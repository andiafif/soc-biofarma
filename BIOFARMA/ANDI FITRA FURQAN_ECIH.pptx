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9"/>
  </p:notesMasterIdLst>
  <p:sldIdLst>
    <p:sldId id="256" r:id="rId2"/>
    <p:sldId id="257" r:id="rId3"/>
    <p:sldId id="282" r:id="rId4"/>
    <p:sldId id="283" r:id="rId5"/>
    <p:sldId id="285" r:id="rId6"/>
    <p:sldId id="258" r:id="rId7"/>
    <p:sldId id="259" r:id="rId8"/>
    <p:sldId id="268" r:id="rId9"/>
    <p:sldId id="269" r:id="rId10"/>
    <p:sldId id="260" r:id="rId11"/>
    <p:sldId id="271" r:id="rId12"/>
    <p:sldId id="272" r:id="rId13"/>
    <p:sldId id="273" r:id="rId14"/>
    <p:sldId id="274" r:id="rId15"/>
    <p:sldId id="288" r:id="rId16"/>
    <p:sldId id="286" r:id="rId17"/>
    <p:sldId id="287" r:id="rId18"/>
    <p:sldId id="277" r:id="rId19"/>
    <p:sldId id="262" r:id="rId20"/>
    <p:sldId id="278" r:id="rId21"/>
    <p:sldId id="263" r:id="rId22"/>
    <p:sldId id="280" r:id="rId23"/>
    <p:sldId id="279" r:id="rId24"/>
    <p:sldId id="281" r:id="rId25"/>
    <p:sldId id="264" r:id="rId26"/>
    <p:sldId id="266" r:id="rId27"/>
    <p:sldId id="267" r:id="rId28"/>
  </p:sldIdLst>
  <p:sldSz cx="9144000" cy="5143500" type="screen16x9"/>
  <p:notesSz cx="6858000" cy="9144000"/>
  <p:embeddedFontLst>
    <p:embeddedFont>
      <p:font typeface="DM Sans" pitchFamily="2" charset="77"/>
      <p:regular r:id="rId30"/>
      <p:bold r:id="rId31"/>
      <p:italic r:id="rId32"/>
      <p:boldItalic r:id="rId33"/>
    </p:embeddedFont>
    <p:embeddedFont>
      <p:font typeface="DM Sans Black" pitchFamily="2" charset="77"/>
      <p:bold r:id="rId34"/>
      <p:italic r:id="rId35"/>
      <p:boldItalic r:id="rId36"/>
    </p:embeddedFont>
    <p:embeddedFont>
      <p:font typeface="DM Sans ExtraBold" pitchFamily="2" charset="77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223"/>
    <p:restoredTop sz="94804"/>
  </p:normalViewPr>
  <p:slideViewPr>
    <p:cSldViewPr snapToGrid="0">
      <p:cViewPr>
        <p:scale>
          <a:sx n="195" d="100"/>
          <a:sy n="195" d="100"/>
        </p:scale>
        <p:origin x="248" y="36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0.fntdata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3406a118c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3406a118c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80839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55873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566316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35048beec9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35048beec9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5048be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5048be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5048be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5048be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56598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35048beec9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35048beec9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468022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784cf0c8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784cf0c8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784cf0c8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784cf0c8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38483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784cf0c8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784cf0c8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913055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784cf0c8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784cf0c8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077640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2784cf0c8c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2784cf0c8c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319727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2784cf0c8c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2784cf0c8c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9917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784cf0c8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784cf0c8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2784cf0c8c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2784cf0c8c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57972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5048beec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5048beec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5048beec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5048beec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90074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5048beec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5048beec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09137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35048beec9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35048beec9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548033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35048beec9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35048beec9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35048beec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35048beec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35048beec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35048beec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2424438"/>
            <a:ext cx="5442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000"/>
              <a:buFont typeface="DM Sans Black"/>
              <a:buNone/>
              <a:defRPr sz="5000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4123525"/>
            <a:ext cx="45894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898675" y="2356573"/>
            <a:ext cx="2562125" cy="2562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t="33300" b="34963"/>
          <a:stretch/>
        </p:blipFill>
        <p:spPr>
          <a:xfrm>
            <a:off x="428325" y="350400"/>
            <a:ext cx="1701074" cy="53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904725" y="-304875"/>
            <a:ext cx="2806175" cy="280617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>
            <a:off x="0" y="5017925"/>
            <a:ext cx="9144000" cy="23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360600" y="481582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CCCCC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2">
  <p:cSld name="TITLE_2">
    <p:bg>
      <p:bgPr>
        <a:solidFill>
          <a:srgbClr val="FF0000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ctrTitle"/>
          </p:nvPr>
        </p:nvSpPr>
        <p:spPr>
          <a:xfrm>
            <a:off x="269450" y="2468375"/>
            <a:ext cx="5442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 Black"/>
              <a:buNone/>
              <a:defRPr sz="500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1700" y="4276125"/>
            <a:ext cx="45894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225150" y="-331950"/>
            <a:ext cx="1904051" cy="190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3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7900" y="226775"/>
            <a:ext cx="532849" cy="53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4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434800" y="3617262"/>
            <a:ext cx="1904051" cy="1904026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284400" y="4792600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2_1">
    <p:bg>
      <p:bgPr>
        <a:solidFill>
          <a:srgbClr val="FFEB00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 txBox="1">
            <a:spLocks noGrp="1"/>
          </p:cNvSpPr>
          <p:nvPr>
            <p:ph type="ctrTitle"/>
          </p:nvPr>
        </p:nvSpPr>
        <p:spPr>
          <a:xfrm>
            <a:off x="248325" y="2523275"/>
            <a:ext cx="5442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Font typeface="DM Sans Black"/>
              <a:buNone/>
              <a:defRPr sz="5000">
                <a:solidFill>
                  <a:schemeClr val="accent2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5000"/>
              <a:buNone/>
              <a:defRPr sz="50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ubTitle" idx="1"/>
          </p:nvPr>
        </p:nvSpPr>
        <p:spPr>
          <a:xfrm>
            <a:off x="311700" y="4276125"/>
            <a:ext cx="45894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DM Sans"/>
              <a:buNone/>
              <a:defRPr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DM Sans"/>
              <a:buNone/>
              <a:defRPr sz="28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452200" y="223750"/>
            <a:ext cx="524923" cy="524923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/>
          <p:nvPr/>
        </p:nvSpPr>
        <p:spPr>
          <a:xfrm>
            <a:off x="0" y="4945875"/>
            <a:ext cx="9183000" cy="25890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42850" y="3930899"/>
            <a:ext cx="934277" cy="934252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80100" y="474807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3">
  <p:cSld name="TITLE_1">
    <p:bg>
      <p:bgPr>
        <a:solidFill>
          <a:schemeClr val="dk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ctrTitle"/>
          </p:nvPr>
        </p:nvSpPr>
        <p:spPr>
          <a:xfrm>
            <a:off x="311700" y="2350625"/>
            <a:ext cx="5442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 Black"/>
              <a:buNone/>
              <a:defRPr sz="5000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None/>
              <a:defRPr sz="5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311700" y="4123525"/>
            <a:ext cx="45894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DM Sans"/>
              <a:buNone/>
              <a:defRPr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"/>
              <a:buNone/>
              <a:defRPr sz="28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t="34204" b="33891"/>
          <a:stretch/>
        </p:blipFill>
        <p:spPr>
          <a:xfrm>
            <a:off x="343075" y="319125"/>
            <a:ext cx="1447153" cy="46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823" y="-295825"/>
            <a:ext cx="1554176" cy="1554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39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92674" y="457561"/>
            <a:ext cx="1447148" cy="144711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9823" y="1117325"/>
            <a:ext cx="1554176" cy="1554125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5"/>
          <p:cNvSpPr txBox="1"/>
          <p:nvPr/>
        </p:nvSpPr>
        <p:spPr>
          <a:xfrm>
            <a:off x="360600" y="482072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CCCCC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CCCCCC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5379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9500" y="4486600"/>
            <a:ext cx="588902" cy="588877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>
            <a:spLocks noGrp="1"/>
          </p:cNvSpPr>
          <p:nvPr>
            <p:ph type="pic" idx="2"/>
          </p:nvPr>
        </p:nvSpPr>
        <p:spPr>
          <a:xfrm>
            <a:off x="5825775" y="-5400"/>
            <a:ext cx="3363000" cy="5154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7" name="Google Shape;47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11175" y="294925"/>
            <a:ext cx="456428" cy="456428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6"/>
          <p:cNvSpPr txBox="1">
            <a:spLocks noGrp="1"/>
          </p:cNvSpPr>
          <p:nvPr>
            <p:ph type="subTitle" idx="1"/>
          </p:nvPr>
        </p:nvSpPr>
        <p:spPr>
          <a:xfrm>
            <a:off x="356575" y="1129325"/>
            <a:ext cx="5074200" cy="296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200"/>
              <a:buFont typeface="DM Sans"/>
              <a:buNone/>
              <a:defRPr sz="1200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/>
          <p:nvPr/>
        </p:nvSpPr>
        <p:spPr>
          <a:xfrm>
            <a:off x="360600" y="482072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D9D9D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woColTx">
  <p:cSld name="TITLE_AND_TWO_COLUMN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7"/>
          <p:cNvSpPr txBox="1">
            <a:spLocks noGrp="1"/>
          </p:cNvSpPr>
          <p:nvPr>
            <p:ph type="title"/>
          </p:nvPr>
        </p:nvSpPr>
        <p:spPr>
          <a:xfrm>
            <a:off x="471450" y="76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/>
          <p:nvPr/>
        </p:nvSpPr>
        <p:spPr>
          <a:xfrm>
            <a:off x="-13050" y="5017925"/>
            <a:ext cx="9170100" cy="2316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3" name="Google Shape;53;p7"/>
          <p:cNvCxnSpPr/>
          <p:nvPr/>
        </p:nvCxnSpPr>
        <p:spPr>
          <a:xfrm>
            <a:off x="471450" y="1373625"/>
            <a:ext cx="820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4" name="Google Shape;54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11175" y="294925"/>
            <a:ext cx="456428" cy="456428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7"/>
          <p:cNvSpPr txBox="1">
            <a:spLocks noGrp="1"/>
          </p:cNvSpPr>
          <p:nvPr>
            <p:ph type="subTitle" idx="1"/>
          </p:nvPr>
        </p:nvSpPr>
        <p:spPr>
          <a:xfrm>
            <a:off x="547625" y="1546625"/>
            <a:ext cx="8124900" cy="33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None/>
              <a:defRPr sz="12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/>
          <p:nvPr/>
        </p:nvSpPr>
        <p:spPr>
          <a:xfrm>
            <a:off x="360600" y="4840450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D9D9D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471450" y="7622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ubTitle" idx="1"/>
          </p:nvPr>
        </p:nvSpPr>
        <p:spPr>
          <a:xfrm>
            <a:off x="547650" y="1533025"/>
            <a:ext cx="8124900" cy="33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DM Sans"/>
              <a:buNone/>
              <a:defRPr sz="1200">
                <a:solidFill>
                  <a:schemeClr val="accen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400"/>
              <a:buFont typeface="DM Sans"/>
              <a:buNone/>
              <a:defRPr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-25975" y="5017925"/>
            <a:ext cx="9170100" cy="23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1" name="Google Shape;61;p8"/>
          <p:cNvCxnSpPr/>
          <p:nvPr/>
        </p:nvCxnSpPr>
        <p:spPr>
          <a:xfrm>
            <a:off x="471450" y="1373625"/>
            <a:ext cx="8201100" cy="0"/>
          </a:xfrm>
          <a:prstGeom prst="straightConnector1">
            <a:avLst/>
          </a:prstGeom>
          <a:noFill/>
          <a:ln w="9525" cap="flat" cmpd="sng">
            <a:solidFill>
              <a:srgbClr val="CCCCCC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2" name="Google Shape;62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11175" y="294925"/>
            <a:ext cx="456428" cy="45642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 txBox="1"/>
          <p:nvPr/>
        </p:nvSpPr>
        <p:spPr>
          <a:xfrm>
            <a:off x="360600" y="482407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D9D9D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ONE_COLUMN_TEXT">
    <p:bg>
      <p:bgPr>
        <a:solidFill>
          <a:schemeClr val="dk1"/>
        </a:solidFill>
        <a:effectLst/>
      </p:bgPr>
    </p:bg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9"/>
          <p:cNvSpPr>
            <a:spLocks noGrp="1"/>
          </p:cNvSpPr>
          <p:nvPr>
            <p:ph type="pic" idx="2"/>
          </p:nvPr>
        </p:nvSpPr>
        <p:spPr>
          <a:xfrm>
            <a:off x="5801325" y="7250"/>
            <a:ext cx="33429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68" name="Google Shape;68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511175" y="294925"/>
            <a:ext cx="456428" cy="456428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8600" y="4469526"/>
            <a:ext cx="578724" cy="57872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9"/>
          <p:cNvSpPr txBox="1">
            <a:spLocks noGrp="1"/>
          </p:cNvSpPr>
          <p:nvPr>
            <p:ph type="subTitle" idx="1"/>
          </p:nvPr>
        </p:nvSpPr>
        <p:spPr>
          <a:xfrm>
            <a:off x="471450" y="1578125"/>
            <a:ext cx="4892100" cy="28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DM Sans"/>
              <a:buNone/>
              <a:defRPr sz="120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title" idx="3"/>
          </p:nvPr>
        </p:nvSpPr>
        <p:spPr>
          <a:xfrm>
            <a:off x="471450" y="751350"/>
            <a:ext cx="50988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M Sans Black"/>
              <a:buNone/>
              <a:defRPr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/>
          <p:nvPr/>
        </p:nvSpPr>
        <p:spPr>
          <a:xfrm>
            <a:off x="360600" y="4812150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D9D9D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-25975" y="0"/>
            <a:ext cx="9170100" cy="52494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p10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-597011" y="-130436"/>
            <a:ext cx="5453450" cy="54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0"/>
          <p:cNvPicPr preferRelativeResize="0"/>
          <p:nvPr/>
        </p:nvPicPr>
        <p:blipFill rotWithShape="1">
          <a:blip r:embed="rId2">
            <a:alphaModFix amt="10000"/>
          </a:blip>
          <a:srcRect/>
          <a:stretch/>
        </p:blipFill>
        <p:spPr>
          <a:xfrm>
            <a:off x="4287564" y="-179499"/>
            <a:ext cx="5453450" cy="54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37900" y="226775"/>
            <a:ext cx="532849" cy="532849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/>
          <p:nvPr/>
        </p:nvSpPr>
        <p:spPr>
          <a:xfrm>
            <a:off x="-25975" y="5017925"/>
            <a:ext cx="9170100" cy="23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9" name="Google Shape;79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3375" y="4358000"/>
            <a:ext cx="578724" cy="57869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>
            <a:spLocks noGrp="1"/>
          </p:cNvSpPr>
          <p:nvPr>
            <p:ph type="title"/>
          </p:nvPr>
        </p:nvSpPr>
        <p:spPr>
          <a:xfrm>
            <a:off x="700225" y="839800"/>
            <a:ext cx="7315800" cy="32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2" name="Google Shape;82;p10"/>
          <p:cNvSpPr txBox="1"/>
          <p:nvPr/>
        </p:nvSpPr>
        <p:spPr>
          <a:xfrm>
            <a:off x="360600" y="482072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D9D9D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1">
  <p:cSld name="MAIN_POINT_1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-25975" y="0"/>
            <a:ext cx="9170100" cy="5249400"/>
          </a:xfrm>
          <a:prstGeom prst="rect">
            <a:avLst/>
          </a:prstGeom>
          <a:solidFill>
            <a:srgbClr val="FFEB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1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-597011" y="-130436"/>
            <a:ext cx="5453450" cy="5453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1"/>
          <p:cNvPicPr preferRelativeResize="0"/>
          <p:nvPr/>
        </p:nvPicPr>
        <p:blipFill rotWithShape="1">
          <a:blip r:embed="rId2">
            <a:alphaModFix amt="20000"/>
          </a:blip>
          <a:srcRect/>
          <a:stretch/>
        </p:blipFill>
        <p:spPr>
          <a:xfrm>
            <a:off x="4287564" y="-179499"/>
            <a:ext cx="5453450" cy="54534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1"/>
          <p:cNvSpPr/>
          <p:nvPr/>
        </p:nvSpPr>
        <p:spPr>
          <a:xfrm>
            <a:off x="-25975" y="5017925"/>
            <a:ext cx="9170100" cy="231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52200" y="223750"/>
            <a:ext cx="524923" cy="524923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050" y="4368475"/>
            <a:ext cx="597228" cy="597228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1"/>
          <p:cNvSpPr txBox="1">
            <a:spLocks noGrp="1"/>
          </p:cNvSpPr>
          <p:nvPr>
            <p:ph type="title"/>
          </p:nvPr>
        </p:nvSpPr>
        <p:spPr>
          <a:xfrm>
            <a:off x="700225" y="839800"/>
            <a:ext cx="7315800" cy="32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500"/>
              <a:buFont typeface="DM Sans ExtraBold"/>
              <a:buNone/>
              <a:defRPr sz="3500">
                <a:solidFill>
                  <a:schemeClr val="accent2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2" name="Google Shape;92;p11"/>
          <p:cNvSpPr txBox="1"/>
          <p:nvPr/>
        </p:nvSpPr>
        <p:spPr>
          <a:xfrm>
            <a:off x="360600" y="4820725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99999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99999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2">
  <p:cSld name="MAIN_POINT_1_1">
    <p:bg>
      <p:bgPr>
        <a:solidFill>
          <a:schemeClr val="dk1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2"/>
          <p:cNvPicPr preferRelativeResize="0"/>
          <p:nvPr/>
        </p:nvPicPr>
        <p:blipFill rotWithShape="1">
          <a:blip r:embed="rId2">
            <a:alphaModFix amt="8000"/>
          </a:blip>
          <a:srcRect/>
          <a:stretch/>
        </p:blipFill>
        <p:spPr>
          <a:xfrm>
            <a:off x="-797700" y="-855262"/>
            <a:ext cx="6854026" cy="6854026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4075" y="214875"/>
            <a:ext cx="532849" cy="5328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2"/>
          <p:cNvPicPr preferRelativeResize="0"/>
          <p:nvPr/>
        </p:nvPicPr>
        <p:blipFill rotWithShape="1">
          <a:blip r:embed="rId4">
            <a:alphaModFix amt="8000"/>
          </a:blip>
          <a:srcRect/>
          <a:stretch/>
        </p:blipFill>
        <p:spPr>
          <a:xfrm>
            <a:off x="5779300" y="-679488"/>
            <a:ext cx="6502523" cy="650250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2"/>
          <p:cNvSpPr txBox="1">
            <a:spLocks noGrp="1"/>
          </p:cNvSpPr>
          <p:nvPr>
            <p:ph type="title"/>
          </p:nvPr>
        </p:nvSpPr>
        <p:spPr>
          <a:xfrm>
            <a:off x="999525" y="947100"/>
            <a:ext cx="7315800" cy="32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9" name="Google Shape;99;p12"/>
          <p:cNvSpPr txBox="1"/>
          <p:nvPr/>
        </p:nvSpPr>
        <p:spPr>
          <a:xfrm>
            <a:off x="360600" y="4812150"/>
            <a:ext cx="8422800" cy="2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latin typeface="DM Sans"/>
                <a:ea typeface="DM Sans"/>
                <a:cs typeface="DM Sans"/>
                <a:sym typeface="DM Sans"/>
              </a:rPr>
              <a:t>Copyright © 2025 PT Coursenet Bangun Indonesia. All rights reserved. Dilarang menyebarluaskan tanpa seizin PT Coursenet Bangun Indonesia</a:t>
            </a:r>
            <a:endParaRPr sz="800">
              <a:solidFill>
                <a:srgbClr val="D9D9D9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>
            <a:spLocks noGrp="1"/>
          </p:cNvSpPr>
          <p:nvPr>
            <p:ph type="ctrTitle"/>
          </p:nvPr>
        </p:nvSpPr>
        <p:spPr>
          <a:xfrm>
            <a:off x="729144" y="1185262"/>
            <a:ext cx="5393361" cy="13864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ECIH Final Project: Strategic Cyber Incident Response in Hybrid Infrastructure</a:t>
            </a:r>
            <a:br>
              <a:rPr lang="en-US" sz="2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br>
              <a:rPr lang="en-US" sz="2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r>
              <a:rPr lang="en-US" sz="2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Sabtu 29 November 2025</a:t>
            </a:r>
            <a:br>
              <a:rPr lang="en-US" sz="2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br>
              <a:rPr lang="en-US" sz="2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endParaRPr sz="8800" dirty="0"/>
          </a:p>
        </p:txBody>
      </p:sp>
      <p:sp>
        <p:nvSpPr>
          <p:cNvPr id="105" name="Google Shape;105;p13"/>
          <p:cNvSpPr txBox="1">
            <a:spLocks noGrp="1"/>
          </p:cNvSpPr>
          <p:nvPr>
            <p:ph type="subTitle" idx="1"/>
          </p:nvPr>
        </p:nvSpPr>
        <p:spPr>
          <a:xfrm>
            <a:off x="2277300" y="3958238"/>
            <a:ext cx="45894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FFFFF"/>
                </a:solidFill>
              </a:rPr>
              <a:t>Andi </a:t>
            </a:r>
            <a:r>
              <a:rPr lang="en" dirty="0" err="1">
                <a:solidFill>
                  <a:srgbClr val="FFFFFF"/>
                </a:solidFill>
              </a:rPr>
              <a:t>Fitra</a:t>
            </a:r>
            <a:r>
              <a:rPr lang="en" dirty="0">
                <a:solidFill>
                  <a:srgbClr val="FFFFFF"/>
                </a:solidFill>
              </a:rPr>
              <a:t> Furqan</a:t>
            </a:r>
            <a:br>
              <a:rPr lang="en" dirty="0">
                <a:solidFill>
                  <a:srgbClr val="FFFFFF"/>
                </a:solidFill>
              </a:rPr>
            </a:br>
            <a:r>
              <a:rPr lang="en" dirty="0">
                <a:solidFill>
                  <a:srgbClr val="FFFFFF"/>
                </a:solidFill>
              </a:rPr>
              <a:t>EC- Council Certified Incident Handler</a:t>
            </a:r>
          </a:p>
          <a:p>
            <a:pPr marL="0" lvl="0" indent="0" algn="ctr"/>
            <a:r>
              <a:rPr lang="en-US" dirty="0"/>
              <a:t>/</a:t>
            </a:r>
            <a:r>
              <a:rPr lang="en-US" dirty="0" err="1"/>
              <a:t>Ryandy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ctrTitle"/>
          </p:nvPr>
        </p:nvSpPr>
        <p:spPr>
          <a:xfrm>
            <a:off x="950976" y="420420"/>
            <a:ext cx="5925311" cy="53470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DM Sans" pitchFamily="2" charset="77"/>
                <a:ea typeface="DM Sans" pitchFamily="2" charset="77"/>
                <a:cs typeface="DM Sans" pitchFamily="2" charset="77"/>
              </a:rPr>
              <a:t>STUDI KASUS DAN LATAR BELAKANG</a:t>
            </a:r>
            <a:endParaRPr sz="6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"/>
          </p:nvPr>
        </p:nvSpPr>
        <p:spPr>
          <a:xfrm>
            <a:off x="779544" y="1314815"/>
            <a:ext cx="6169896" cy="3193575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D" sz="1200" b="1" dirty="0"/>
              <a:t>Nama dan Sektor</a:t>
            </a:r>
            <a:br>
              <a:rPr lang="en-ID" sz="1200" dirty="0"/>
            </a:br>
            <a:r>
              <a:rPr lang="en-ID" sz="1200" dirty="0" err="1"/>
              <a:t>NeuroCom</a:t>
            </a:r>
            <a:r>
              <a:rPr lang="en-ID" sz="1200" dirty="0"/>
              <a:t> </a:t>
            </a:r>
            <a:r>
              <a:rPr lang="en-ID" sz="1200" dirty="0" err="1"/>
              <a:t>adalah</a:t>
            </a:r>
            <a:r>
              <a:rPr lang="en-ID" sz="1200" dirty="0"/>
              <a:t> </a:t>
            </a:r>
            <a:r>
              <a:rPr lang="en-ID" sz="1200" dirty="0" err="1"/>
              <a:t>perusahaan</a:t>
            </a:r>
            <a:r>
              <a:rPr lang="en-ID" sz="1200" dirty="0"/>
              <a:t> </a:t>
            </a:r>
            <a:r>
              <a:rPr lang="en-ID" sz="1200" i="1" dirty="0"/>
              <a:t>Financial Technology (FinTech)</a:t>
            </a:r>
            <a:r>
              <a:rPr lang="en-ID" sz="1200" dirty="0"/>
              <a:t> yang </a:t>
            </a:r>
            <a:r>
              <a:rPr lang="en-ID" sz="1200" dirty="0" err="1"/>
              <a:t>menyediakan</a:t>
            </a:r>
            <a:r>
              <a:rPr lang="en-ID" sz="1200" dirty="0"/>
              <a:t> </a:t>
            </a:r>
            <a:r>
              <a:rPr lang="en-ID" sz="1200" dirty="0" err="1"/>
              <a:t>layanan</a:t>
            </a:r>
            <a:r>
              <a:rPr lang="en-ID" sz="1200" dirty="0"/>
              <a:t> </a:t>
            </a:r>
            <a:r>
              <a:rPr lang="en-ID" sz="1200" dirty="0" err="1"/>
              <a:t>pembayaran</a:t>
            </a:r>
            <a:r>
              <a:rPr lang="en-ID" sz="1200" dirty="0"/>
              <a:t> digital, </a:t>
            </a:r>
            <a:r>
              <a:rPr lang="en-ID" sz="1200" dirty="0" err="1"/>
              <a:t>pengelolaan</a:t>
            </a:r>
            <a:r>
              <a:rPr lang="en-ID" sz="1200" dirty="0"/>
              <a:t> </a:t>
            </a:r>
            <a:r>
              <a:rPr lang="en-ID" sz="1200" dirty="0" err="1"/>
              <a:t>dompet</a:t>
            </a:r>
            <a:r>
              <a:rPr lang="en-ID" sz="1200" dirty="0"/>
              <a:t> </a:t>
            </a:r>
            <a:r>
              <a:rPr lang="en-ID" sz="1200" dirty="0" err="1"/>
              <a:t>elektronik</a:t>
            </a:r>
            <a:r>
              <a:rPr lang="en-ID" sz="1200" dirty="0"/>
              <a:t>, dan </a:t>
            </a:r>
            <a:r>
              <a:rPr lang="en-ID" sz="1200" dirty="0" err="1"/>
              <a:t>investasi</a:t>
            </a:r>
            <a:r>
              <a:rPr lang="en-ID" sz="1200" dirty="0"/>
              <a:t> </a:t>
            </a:r>
            <a:r>
              <a:rPr lang="en-ID" sz="1200" dirty="0" err="1"/>
              <a:t>mikro</a:t>
            </a:r>
            <a:r>
              <a:rPr lang="en-ID" sz="1200" dirty="0"/>
              <a:t> </a:t>
            </a:r>
            <a:r>
              <a:rPr lang="en-ID" sz="1200" dirty="0" err="1"/>
              <a:t>untuk</a:t>
            </a:r>
            <a:r>
              <a:rPr lang="en-ID" sz="1200" dirty="0"/>
              <a:t> </a:t>
            </a:r>
            <a:r>
              <a:rPr lang="en-ID" sz="1200" dirty="0" err="1"/>
              <a:t>pengguna</a:t>
            </a:r>
            <a:r>
              <a:rPr lang="en-ID" sz="1200" dirty="0"/>
              <a:t> </a:t>
            </a:r>
            <a:r>
              <a:rPr lang="en-ID" sz="1200" dirty="0" err="1"/>
              <a:t>ritel</a:t>
            </a:r>
            <a:r>
              <a:rPr lang="en-ID" sz="1200" dirty="0"/>
              <a:t>.</a:t>
            </a:r>
          </a:p>
          <a:p>
            <a:r>
              <a:rPr lang="en-ID" sz="1200" b="1" dirty="0" err="1"/>
              <a:t>Ukuran</a:t>
            </a:r>
            <a:r>
              <a:rPr lang="en-ID" sz="1200" b="1" dirty="0"/>
              <a:t> </a:t>
            </a:r>
            <a:r>
              <a:rPr lang="en-ID" sz="1200" b="1" dirty="0" err="1"/>
              <a:t>Organisasi</a:t>
            </a:r>
            <a:br>
              <a:rPr lang="en-ID" sz="1200" dirty="0"/>
            </a:br>
            <a:r>
              <a:rPr lang="en-ID" sz="1200" dirty="0"/>
              <a:t>Perusahaan </a:t>
            </a:r>
            <a:r>
              <a:rPr lang="en-ID" sz="1200" dirty="0" err="1"/>
              <a:t>berskala</a:t>
            </a:r>
            <a:r>
              <a:rPr lang="en-ID" sz="1200" dirty="0"/>
              <a:t> </a:t>
            </a:r>
            <a:r>
              <a:rPr lang="en-ID" sz="1200" dirty="0" err="1"/>
              <a:t>menengah</a:t>
            </a:r>
            <a:r>
              <a:rPr lang="en-ID" sz="1200" dirty="0"/>
              <a:t> </a:t>
            </a:r>
            <a:r>
              <a:rPr lang="en-ID" sz="1200" dirty="0" err="1"/>
              <a:t>hingga</a:t>
            </a:r>
            <a:r>
              <a:rPr lang="en-ID" sz="1200" dirty="0"/>
              <a:t> </a:t>
            </a:r>
            <a:r>
              <a:rPr lang="en-ID" sz="1200" dirty="0" err="1"/>
              <a:t>besar</a:t>
            </a:r>
            <a:r>
              <a:rPr lang="en-ID" sz="1200" dirty="0"/>
              <a:t> </a:t>
            </a:r>
            <a:r>
              <a:rPr lang="en-ID" sz="1200" dirty="0" err="1"/>
              <a:t>dengan</a:t>
            </a:r>
            <a:r>
              <a:rPr lang="en-ID" sz="1200" dirty="0"/>
              <a:t> ±1.500 </a:t>
            </a:r>
            <a:r>
              <a:rPr lang="en-ID" sz="1200" dirty="0" err="1"/>
              <a:t>karyawan</a:t>
            </a:r>
            <a:r>
              <a:rPr lang="en-ID" sz="1200" dirty="0"/>
              <a:t> </a:t>
            </a:r>
            <a:r>
              <a:rPr lang="en-ID" sz="1200" dirty="0" err="1"/>
              <a:t>serta</a:t>
            </a:r>
            <a:r>
              <a:rPr lang="en-ID" sz="1200" dirty="0"/>
              <a:t> basis </a:t>
            </a:r>
            <a:r>
              <a:rPr lang="en-ID" sz="1200" dirty="0" err="1"/>
              <a:t>pengguna</a:t>
            </a:r>
            <a:r>
              <a:rPr lang="en-ID" sz="1200" dirty="0"/>
              <a:t> </a:t>
            </a:r>
            <a:r>
              <a:rPr lang="en-ID" sz="1200" dirty="0" err="1"/>
              <a:t>aktif</a:t>
            </a:r>
            <a:r>
              <a:rPr lang="en-ID" sz="1200" dirty="0"/>
              <a:t> yang </a:t>
            </a:r>
            <a:r>
              <a:rPr lang="en-ID" sz="1200" dirty="0" err="1"/>
              <a:t>mencapai</a:t>
            </a:r>
            <a:r>
              <a:rPr lang="en-ID" sz="1200" dirty="0"/>
              <a:t> </a:t>
            </a:r>
            <a:r>
              <a:rPr lang="en-ID" sz="1200" dirty="0" err="1"/>
              <a:t>jutaan</a:t>
            </a:r>
            <a:r>
              <a:rPr lang="en-ID" sz="1200" dirty="0"/>
              <a:t> </a:t>
            </a:r>
            <a:r>
              <a:rPr lang="en-ID" sz="1200" dirty="0" err="1"/>
              <a:t>akun</a:t>
            </a:r>
            <a:r>
              <a:rPr lang="en-ID" sz="1200" dirty="0"/>
              <a:t>.</a:t>
            </a:r>
          </a:p>
          <a:p>
            <a:r>
              <a:rPr lang="en-ID" sz="1200" b="1" dirty="0"/>
              <a:t>Aset dan </a:t>
            </a:r>
            <a:r>
              <a:rPr lang="en-ID" sz="1200" b="1" dirty="0" err="1"/>
              <a:t>Fungsi</a:t>
            </a:r>
            <a:r>
              <a:rPr lang="en-ID" sz="1200" b="1" dirty="0"/>
              <a:t> </a:t>
            </a:r>
            <a:r>
              <a:rPr lang="en-ID" sz="1200" b="1" dirty="0" err="1"/>
              <a:t>Kritis</a:t>
            </a:r>
            <a:br>
              <a:rPr lang="en-ID" sz="1200" dirty="0"/>
            </a:br>
            <a:r>
              <a:rPr lang="en-ID" sz="1200" dirty="0"/>
              <a:t>• </a:t>
            </a:r>
            <a:r>
              <a:rPr lang="en-ID" sz="1200" b="1" dirty="0"/>
              <a:t>Data </a:t>
            </a:r>
            <a:r>
              <a:rPr lang="en-ID" sz="1200" b="1" dirty="0" err="1"/>
              <a:t>Pelanggan</a:t>
            </a:r>
            <a:r>
              <a:rPr lang="en-ID" sz="1200" dirty="0"/>
              <a:t> – </a:t>
            </a:r>
            <a:r>
              <a:rPr lang="en-ID" sz="1200" dirty="0" err="1"/>
              <a:t>Menyimpan</a:t>
            </a:r>
            <a:r>
              <a:rPr lang="en-ID" sz="1200" dirty="0"/>
              <a:t> </a:t>
            </a:r>
            <a:r>
              <a:rPr lang="en-ID" sz="1200" dirty="0" err="1"/>
              <a:t>informasi</a:t>
            </a:r>
            <a:r>
              <a:rPr lang="en-ID" sz="1200" dirty="0"/>
              <a:t> </a:t>
            </a:r>
            <a:r>
              <a:rPr lang="en-ID" sz="1200" dirty="0" err="1"/>
              <a:t>keuangan</a:t>
            </a:r>
            <a:r>
              <a:rPr lang="en-ID" sz="1200" dirty="0"/>
              <a:t>, </a:t>
            </a:r>
            <a:r>
              <a:rPr lang="en-ID" sz="1200" dirty="0" err="1"/>
              <a:t>riwayat</a:t>
            </a:r>
            <a:r>
              <a:rPr lang="en-ID" sz="1200" dirty="0"/>
              <a:t> </a:t>
            </a:r>
            <a:r>
              <a:rPr lang="en-ID" sz="1200" dirty="0" err="1"/>
              <a:t>transaksi</a:t>
            </a:r>
            <a:r>
              <a:rPr lang="en-ID" sz="1200" dirty="0"/>
              <a:t>, dan data </a:t>
            </a:r>
            <a:r>
              <a:rPr lang="en-ID" sz="1200" dirty="0" err="1"/>
              <a:t>identitas</a:t>
            </a:r>
            <a:r>
              <a:rPr lang="en-ID" sz="1200" dirty="0"/>
              <a:t> </a:t>
            </a:r>
            <a:r>
              <a:rPr lang="en-ID" sz="1200" dirty="0" err="1"/>
              <a:t>pribadi</a:t>
            </a:r>
            <a:r>
              <a:rPr lang="en-ID" sz="1200" dirty="0"/>
              <a:t> (PII) yang </a:t>
            </a:r>
            <a:r>
              <a:rPr lang="en-ID" sz="1200" dirty="0" err="1"/>
              <a:t>bersifat</a:t>
            </a:r>
            <a:r>
              <a:rPr lang="en-ID" sz="1200" dirty="0"/>
              <a:t> </a:t>
            </a:r>
            <a:r>
              <a:rPr lang="en-ID" sz="1200" dirty="0" err="1"/>
              <a:t>sensitif</a:t>
            </a:r>
            <a:r>
              <a:rPr lang="en-ID" sz="1200" dirty="0"/>
              <a:t>.</a:t>
            </a:r>
            <a:br>
              <a:rPr lang="en-ID" sz="1200" dirty="0"/>
            </a:br>
            <a:r>
              <a:rPr lang="en-ID" sz="1200" dirty="0"/>
              <a:t>• </a:t>
            </a:r>
            <a:r>
              <a:rPr lang="en-ID" sz="1200" b="1" dirty="0" err="1"/>
              <a:t>Layanan</a:t>
            </a:r>
            <a:r>
              <a:rPr lang="en-ID" sz="1200" b="1" dirty="0"/>
              <a:t> </a:t>
            </a:r>
            <a:r>
              <a:rPr lang="en-ID" sz="1200" b="1" dirty="0" err="1"/>
              <a:t>Transaksi</a:t>
            </a:r>
            <a:r>
              <a:rPr lang="en-ID" sz="1200" dirty="0"/>
              <a:t> – </a:t>
            </a:r>
            <a:r>
              <a:rPr lang="en-ID" sz="1200" dirty="0" err="1"/>
              <a:t>Mengoperasikan</a:t>
            </a:r>
            <a:r>
              <a:rPr lang="en-ID" sz="1200" dirty="0"/>
              <a:t> </a:t>
            </a:r>
            <a:r>
              <a:rPr lang="en-ID" sz="1200" dirty="0" err="1"/>
              <a:t>sistem</a:t>
            </a:r>
            <a:r>
              <a:rPr lang="en-ID" sz="1200" dirty="0"/>
              <a:t> </a:t>
            </a:r>
            <a:r>
              <a:rPr lang="en-ID" sz="1200" dirty="0" err="1"/>
              <a:t>pembayaran</a:t>
            </a:r>
            <a:r>
              <a:rPr lang="en-ID" sz="1200" dirty="0"/>
              <a:t> digital </a:t>
            </a:r>
            <a:r>
              <a:rPr lang="en-ID" sz="1200" dirty="0" err="1"/>
              <a:t>dengan</a:t>
            </a:r>
            <a:r>
              <a:rPr lang="en-ID" sz="1200" dirty="0"/>
              <a:t> </a:t>
            </a:r>
            <a:r>
              <a:rPr lang="en-ID" sz="1200" dirty="0" err="1"/>
              <a:t>tuntutan</a:t>
            </a:r>
            <a:r>
              <a:rPr lang="en-ID" sz="1200" dirty="0"/>
              <a:t> </a:t>
            </a:r>
            <a:r>
              <a:rPr lang="en-ID" sz="1200" dirty="0" err="1"/>
              <a:t>ketersediaan</a:t>
            </a:r>
            <a:r>
              <a:rPr lang="en-ID" sz="1200" dirty="0"/>
              <a:t> </a:t>
            </a:r>
            <a:r>
              <a:rPr lang="en-ID" sz="1200" dirty="0" err="1"/>
              <a:t>tinggi</a:t>
            </a:r>
            <a:r>
              <a:rPr lang="en-ID" sz="1200" dirty="0"/>
              <a:t> dan </a:t>
            </a:r>
            <a:r>
              <a:rPr lang="en-ID" sz="1200" dirty="0" err="1"/>
              <a:t>integritas</a:t>
            </a:r>
            <a:r>
              <a:rPr lang="en-ID" sz="1200" dirty="0"/>
              <a:t> </a:t>
            </a:r>
            <a:r>
              <a:rPr lang="en-ID" sz="1200" dirty="0" err="1"/>
              <a:t>transaksi</a:t>
            </a:r>
            <a:r>
              <a:rPr lang="en-ID" sz="1200" dirty="0"/>
              <a:t> 24/7.</a:t>
            </a:r>
          </a:p>
          <a:p>
            <a:r>
              <a:rPr lang="en-ID" sz="1200" b="1" dirty="0" err="1"/>
              <a:t>Prioritas</a:t>
            </a:r>
            <a:r>
              <a:rPr lang="en-ID" sz="1200" b="1" dirty="0"/>
              <a:t> </a:t>
            </a:r>
            <a:r>
              <a:rPr lang="en-ID" sz="1200" b="1" dirty="0" err="1"/>
              <a:t>Keamanan</a:t>
            </a:r>
            <a:br>
              <a:rPr lang="en-ID" sz="1200" dirty="0"/>
            </a:br>
            <a:r>
              <a:rPr lang="en-ID" sz="1200" dirty="0" err="1"/>
              <a:t>Fokus</a:t>
            </a:r>
            <a:r>
              <a:rPr lang="en-ID" sz="1200" dirty="0"/>
              <a:t> pada </a:t>
            </a:r>
            <a:r>
              <a:rPr lang="en-ID" sz="1200" dirty="0" err="1"/>
              <a:t>pemenuhan</a:t>
            </a:r>
            <a:r>
              <a:rPr lang="en-ID" sz="1200" dirty="0"/>
              <a:t> </a:t>
            </a:r>
            <a:r>
              <a:rPr lang="en-ID" sz="1200" dirty="0" err="1"/>
              <a:t>regulasi</a:t>
            </a:r>
            <a:r>
              <a:rPr lang="en-ID" sz="1200" dirty="0"/>
              <a:t> </a:t>
            </a:r>
            <a:r>
              <a:rPr lang="en-ID" sz="1200" dirty="0" err="1"/>
              <a:t>keuangan</a:t>
            </a:r>
            <a:r>
              <a:rPr lang="en-ID" sz="1200" dirty="0"/>
              <a:t>, </a:t>
            </a:r>
            <a:r>
              <a:rPr lang="en-ID" sz="1200" dirty="0" err="1"/>
              <a:t>perlindungan</a:t>
            </a:r>
            <a:r>
              <a:rPr lang="en-ID" sz="1200" dirty="0"/>
              <a:t> data </a:t>
            </a:r>
            <a:r>
              <a:rPr lang="en-ID" sz="1200" dirty="0" err="1"/>
              <a:t>sensitif</a:t>
            </a:r>
            <a:r>
              <a:rPr lang="en-ID" sz="1200" dirty="0"/>
              <a:t> </a:t>
            </a:r>
            <a:r>
              <a:rPr lang="en-ID" sz="1200" dirty="0" err="1"/>
              <a:t>pelanggan</a:t>
            </a:r>
            <a:r>
              <a:rPr lang="en-ID" sz="1200" dirty="0"/>
              <a:t>, </a:t>
            </a:r>
            <a:r>
              <a:rPr lang="en-ID" sz="1200" dirty="0" err="1"/>
              <a:t>serta</a:t>
            </a:r>
            <a:r>
              <a:rPr lang="en-ID" sz="1200" dirty="0"/>
              <a:t> </a:t>
            </a:r>
            <a:r>
              <a:rPr lang="en-ID" sz="1200" dirty="0" err="1"/>
              <a:t>menjaga</a:t>
            </a:r>
            <a:r>
              <a:rPr lang="en-ID" sz="1200" dirty="0"/>
              <a:t> </a:t>
            </a:r>
            <a:r>
              <a:rPr lang="en-ID" sz="1200" dirty="0" err="1"/>
              <a:t>integritas</a:t>
            </a:r>
            <a:r>
              <a:rPr lang="en-ID" sz="1200" dirty="0"/>
              <a:t> dan </a:t>
            </a:r>
            <a:r>
              <a:rPr lang="en-ID" sz="1200" dirty="0" err="1"/>
              <a:t>ketersediaan</a:t>
            </a:r>
            <a:r>
              <a:rPr lang="en-ID" sz="1200" dirty="0"/>
              <a:t> </a:t>
            </a:r>
            <a:r>
              <a:rPr lang="en-ID" sz="1200" dirty="0" err="1"/>
              <a:t>layanan</a:t>
            </a:r>
            <a:r>
              <a:rPr lang="en-ID" sz="1200" dirty="0"/>
              <a:t> </a:t>
            </a:r>
            <a:r>
              <a:rPr lang="en-ID" sz="1200" dirty="0" err="1"/>
              <a:t>transaksi</a:t>
            </a:r>
            <a:r>
              <a:rPr lang="en-ID" sz="1200" dirty="0"/>
              <a:t> </a:t>
            </a:r>
            <a:r>
              <a:rPr lang="en-ID" sz="1200" dirty="0" err="1"/>
              <a:t>secara</a:t>
            </a:r>
            <a:r>
              <a:rPr lang="en-ID" sz="1200" dirty="0"/>
              <a:t> </a:t>
            </a:r>
            <a:r>
              <a:rPr lang="en-ID" sz="1200" dirty="0" err="1"/>
              <a:t>berkelanjutan</a:t>
            </a:r>
            <a:r>
              <a:rPr lang="en-ID" sz="1200"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ctrTitle"/>
          </p:nvPr>
        </p:nvSpPr>
        <p:spPr>
          <a:xfrm>
            <a:off x="2615058" y="341311"/>
            <a:ext cx="3346830" cy="58223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INFRASTRUKTUR HIBRIDA</a:t>
            </a:r>
            <a:endParaRPr sz="6800" b="1" dirty="0"/>
          </a:p>
        </p:txBody>
      </p:sp>
      <p:sp>
        <p:nvSpPr>
          <p:cNvPr id="111" name="Google Shape;111;p14"/>
          <p:cNvSpPr txBox="1">
            <a:spLocks noGrp="1"/>
          </p:cNvSpPr>
          <p:nvPr>
            <p:ph type="subTitle" idx="1"/>
          </p:nvPr>
        </p:nvSpPr>
        <p:spPr>
          <a:xfrm>
            <a:off x="163717" y="1139211"/>
            <a:ext cx="2365106" cy="228978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Jaringan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Lokal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(On-Premise):</a:t>
            </a: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Peran: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Menampung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legacy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penting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Active Directory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(AD)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dan server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center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kantor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Khas: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Kerentanan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patching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terlambat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penyebaran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lateral 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Lateral Movement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AD.</a:t>
            </a:r>
          </a:p>
        </p:txBody>
      </p:sp>
      <p:sp>
        <p:nvSpPr>
          <p:cNvPr id="5" name="Google Shape;111;p14">
            <a:extLst>
              <a:ext uri="{FF2B5EF4-FFF2-40B4-BE49-F238E27FC236}">
                <a16:creationId xmlns:a16="http://schemas.microsoft.com/office/drawing/2014/main" id="{38C1634C-770B-D84F-AF8B-691932132339}"/>
              </a:ext>
            </a:extLst>
          </p:cNvPr>
          <p:cNvSpPr txBox="1">
            <a:spLocks/>
          </p:cNvSpPr>
          <p:nvPr/>
        </p:nvSpPr>
        <p:spPr>
          <a:xfrm>
            <a:off x="2765042" y="1139211"/>
            <a:ext cx="2524492" cy="269958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ans"/>
              <a:buNone/>
              <a:defRPr sz="1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Aplikasi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Web (Web Applications):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Peran: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Portal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utama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bagi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mobile app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back-end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Lokasi: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hosting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balancer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Web Application Firewall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(WAF).</a:t>
            </a: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Khas: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SQL Injection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Cross-Site Scripting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(XSS), dan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Broken Authentication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Google Shape;111;p14">
            <a:extLst>
              <a:ext uri="{FF2B5EF4-FFF2-40B4-BE49-F238E27FC236}">
                <a16:creationId xmlns:a16="http://schemas.microsoft.com/office/drawing/2014/main" id="{C77A85FC-B92A-F54E-A4B4-34B294D0922B}"/>
              </a:ext>
            </a:extLst>
          </p:cNvPr>
          <p:cNvSpPr txBox="1">
            <a:spLocks/>
          </p:cNvSpPr>
          <p:nvPr/>
        </p:nvSpPr>
        <p:spPr>
          <a:xfrm>
            <a:off x="5525752" y="1139211"/>
            <a:ext cx="3069607" cy="3254373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800"/>
              <a:buFont typeface="DM Sans"/>
              <a:buNone/>
              <a:defRPr sz="1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"/>
              <a:buNone/>
              <a:defRPr sz="2800" b="0" i="0" u="none" strike="noStrike" cap="none">
                <a:solidFill>
                  <a:srgbClr val="21212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Infrastruktur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Cloud (Cloud Infrastructure):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Penyedia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Multi-Cloud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AWS dan Azure)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skalabilitas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DevOps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IaaS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(VM),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PaaS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(Basis Data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Terkelola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dan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Serverless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Risiko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Khas: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Kesalahan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konfigurasi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Misconfiguration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pada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bucket storage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publik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kebocoran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kunci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API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 key exposure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769125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ctrTitle"/>
          </p:nvPr>
        </p:nvSpPr>
        <p:spPr>
          <a:xfrm>
            <a:off x="2089441" y="108258"/>
            <a:ext cx="5535973" cy="484632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  <a:latin typeface="Times New Roman" panose="02020603050405020304" pitchFamily="18" charset="0"/>
                <a:ea typeface="Times New Roman" panose="02020603050405020304" pitchFamily="18" charset="0"/>
              </a:rPr>
              <a:t>RESIKO KEAMANAN UTAMA YANG DIHADAPI</a:t>
            </a:r>
            <a:endParaRPr sz="6800" b="1" dirty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</p:txBody>
      </p:sp>
      <p:sp>
        <p:nvSpPr>
          <p:cNvPr id="4" name="Google Shape;110;p14">
            <a:extLst>
              <a:ext uri="{FF2B5EF4-FFF2-40B4-BE49-F238E27FC236}">
                <a16:creationId xmlns:a16="http://schemas.microsoft.com/office/drawing/2014/main" id="{E41ECB48-F878-5142-913F-45F6F0D3B344}"/>
              </a:ext>
            </a:extLst>
          </p:cNvPr>
          <p:cNvSpPr txBox="1">
            <a:spLocks/>
          </p:cNvSpPr>
          <p:nvPr/>
        </p:nvSpPr>
        <p:spPr>
          <a:xfrm>
            <a:off x="390481" y="903277"/>
            <a:ext cx="3869967" cy="2083763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000"/>
              <a:buFont typeface="DM Sans Black"/>
              <a:buNone/>
              <a:defRPr sz="50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Malware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Lanjutan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(Advanced Malware/Ransomware) 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  <a:cs typeface="Arial"/>
            </a:endParaRPr>
          </a:p>
          <a:p>
            <a:pPr marL="342900" marR="0" lvl="0" indent="-342900"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dimulai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jaringan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lokal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email)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berusaha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menyebar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mengenkripsi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sistem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On-Premise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sekaligus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menargetkan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snapshot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data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tersimpan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 Storage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melalui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kredensial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dicuri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Kerugian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finansial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besar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kelumpuhan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operasional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downtime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total.</a:t>
            </a:r>
          </a:p>
        </p:txBody>
      </p:sp>
      <p:sp>
        <p:nvSpPr>
          <p:cNvPr id="5" name="Google Shape;110;p14">
            <a:extLst>
              <a:ext uri="{FF2B5EF4-FFF2-40B4-BE49-F238E27FC236}">
                <a16:creationId xmlns:a16="http://schemas.microsoft.com/office/drawing/2014/main" id="{81513483-5692-7E42-B1DF-EFE3C0F8D0F8}"/>
              </a:ext>
            </a:extLst>
          </p:cNvPr>
          <p:cNvSpPr txBox="1">
            <a:spLocks/>
          </p:cNvSpPr>
          <p:nvPr/>
        </p:nvSpPr>
        <p:spPr>
          <a:xfrm>
            <a:off x="4572000" y="812333"/>
            <a:ext cx="3869967" cy="1702878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000"/>
              <a:buFont typeface="DM Sans Black"/>
              <a:buNone/>
              <a:defRPr sz="50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Ancaman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Orang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(Insider Threat) 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  <a:cs typeface="Arial"/>
            </a:endParaRP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Arial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Karyawan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baik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disengaja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malicious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ceroboh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negligent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menyalahgunakan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akses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istimewa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mencuri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sensitif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basis data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memodifikasi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pengaturan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keamanan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On-Premise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Pelanggaran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massal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denda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regulasi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C8F833-BBF6-3647-A816-960E4C3485DB}"/>
              </a:ext>
            </a:extLst>
          </p:cNvPr>
          <p:cNvSpPr txBox="1"/>
          <p:nvPr/>
        </p:nvSpPr>
        <p:spPr>
          <a:xfrm>
            <a:off x="293913" y="3154921"/>
            <a:ext cx="4356464" cy="156966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Serangan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Penolakan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Layanan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(Denial of Service - DoS/DDoS) 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membanjiri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Web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API Gateway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beroperasi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menyebabkan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pelanggan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tersedia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Kerusakan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reputasi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hilangnya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pendapatan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transaksi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selama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661494-1589-2A43-9585-BE6DFE16A322}"/>
              </a:ext>
            </a:extLst>
          </p:cNvPr>
          <p:cNvSpPr txBox="1"/>
          <p:nvPr/>
        </p:nvSpPr>
        <p:spPr>
          <a:xfrm>
            <a:off x="5005474" y="2781068"/>
            <a:ext cx="3748045" cy="1938992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Serangan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Phishing dan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Rekayasa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Sosial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</a:t>
            </a:r>
            <a:endParaRPr lang="en-US" sz="12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Deskripsi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Upaya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mencuri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kredensial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khususnya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kredensial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Administrator Cloud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akun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Privileged Access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digunakan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mengakses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kedua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lingkungan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hibrida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Dampak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Memberikan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initial access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kepada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penyerang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melakukan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serangan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lanjutan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malware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exfiltration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1086358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4"/>
          <p:cNvSpPr txBox="1">
            <a:spLocks noGrp="1"/>
          </p:cNvSpPr>
          <p:nvPr>
            <p:ph type="ctrTitle"/>
          </p:nvPr>
        </p:nvSpPr>
        <p:spPr>
          <a:xfrm>
            <a:off x="978298" y="484414"/>
            <a:ext cx="7377072" cy="68967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ALASAN PENTINGNYA STRATEGI TANGGAP INSIDEN 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(IR STRATEGY)</a:t>
            </a:r>
            <a:b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sz="6800" dirty="0"/>
          </a:p>
        </p:txBody>
      </p:sp>
      <p:sp>
        <p:nvSpPr>
          <p:cNvPr id="4" name="Google Shape;110;p14">
            <a:extLst>
              <a:ext uri="{FF2B5EF4-FFF2-40B4-BE49-F238E27FC236}">
                <a16:creationId xmlns:a16="http://schemas.microsoft.com/office/drawing/2014/main" id="{E41ECB48-F878-5142-913F-45F6F0D3B344}"/>
              </a:ext>
            </a:extLst>
          </p:cNvPr>
          <p:cNvSpPr txBox="1">
            <a:spLocks/>
          </p:cNvSpPr>
          <p:nvPr/>
        </p:nvSpPr>
        <p:spPr>
          <a:xfrm>
            <a:off x="788630" y="1442252"/>
            <a:ext cx="7566740" cy="3216834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5000"/>
              <a:buFont typeface="DM Sans Black"/>
              <a:buNone/>
              <a:defRPr sz="50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1.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Memastikan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Keberlangsungan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Bisnis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Kritis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Strategi IR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efektif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memungkinkan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secara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cepat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mengandung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insiden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memulihkan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fungsi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kritis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misalnya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sistem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pembayaran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sesuai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Recovery Time Objectives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(RTO).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2.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Koordinasi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di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Lingkungan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Hibrida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  <a:cs typeface="Arial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 IR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adalah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peta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jalan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menginstruksikan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bagaimana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berkoordinasi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antara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On-Premise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analisis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log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audit trail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memastikan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tidak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celah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dalam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respons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3.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Kepatuhan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Hukum: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Sebagai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perusahaan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FinTech,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NeuroCom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memiliki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kewajiban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hukum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untuk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melaporkan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pelanggaran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data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dalam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jangka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waktu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tertentu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misalnya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24/72 jam). Strategi IR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memastikan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proses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pelaporan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notifikasi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berjalan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lancar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R="0" lvl="0">
              <a:buSzPts val="1000"/>
              <a:tabLst>
                <a:tab pos="457200" algn="l"/>
              </a:tabLst>
            </a:pPr>
            <a:endParaRPr lang="en-US" sz="12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R="0" lvl="0">
              <a:buSzPts val="1000"/>
              <a:tabLst>
                <a:tab pos="457200" algn="l"/>
              </a:tabLst>
            </a:pP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4.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Mengurangi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Kerugian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Finansial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12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Reputasi</a:t>
            </a:r>
            <a:r>
              <a:rPr lang="en-US" sz="1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Respons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yang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cepat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terencana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dapat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mengurangi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waktu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downtime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meminimalkan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denda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regulasi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dan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menunjukkan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kepada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publik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serta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investor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bahwa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organisasi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siap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menghadapi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ancaman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29921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>
            <a:spLocks noGrp="1"/>
          </p:cNvSpPr>
          <p:nvPr>
            <p:ph type="ctrTitle"/>
          </p:nvPr>
        </p:nvSpPr>
        <p:spPr>
          <a:xfrm>
            <a:off x="2049633" y="560062"/>
            <a:ext cx="5442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 err="1">
                <a:solidFill>
                  <a:srgbClr val="000000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Tujuan</a:t>
            </a:r>
            <a:r>
              <a:rPr lang="en-US" sz="4800" b="1" dirty="0">
                <a:solidFill>
                  <a:srgbClr val="000000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4800" b="1" dirty="0" err="1">
                <a:solidFill>
                  <a:srgbClr val="000000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Proyek</a:t>
            </a:r>
            <a:r>
              <a:rPr lang="en-US" sz="4800" dirty="0">
                <a:effectLst/>
              </a:rPr>
              <a:t> </a:t>
            </a:r>
            <a:endParaRPr lang="en-US" sz="4800" dirty="0"/>
          </a:p>
        </p:txBody>
      </p:sp>
      <p:sp>
        <p:nvSpPr>
          <p:cNvPr id="4" name="Google Shape;116;p15">
            <a:extLst>
              <a:ext uri="{FF2B5EF4-FFF2-40B4-BE49-F238E27FC236}">
                <a16:creationId xmlns:a16="http://schemas.microsoft.com/office/drawing/2014/main" id="{494244EA-DA0D-4D4A-A519-2CB2ED5EC4DF}"/>
              </a:ext>
            </a:extLst>
          </p:cNvPr>
          <p:cNvSpPr txBox="1">
            <a:spLocks/>
          </p:cNvSpPr>
          <p:nvPr/>
        </p:nvSpPr>
        <p:spPr>
          <a:xfrm>
            <a:off x="675861" y="1619362"/>
            <a:ext cx="7792278" cy="27737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DM Sans Black"/>
              <a:buNone/>
              <a:defRPr sz="5000" b="0" i="0" u="none" strike="noStrike" cap="none">
                <a:solidFill>
                  <a:schemeClr val="lt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000"/>
              <a:buFont typeface="Arial"/>
              <a:buNone/>
              <a:defRPr sz="5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marR="0" lvl="0" indent="-3429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Menyusun strategi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penanganan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insiden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multi-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vektor</a:t>
            </a:r>
            <a:b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endParaRPr lang="en-US" sz="180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Melakukan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investigasi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dan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dokumentasi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insiden</a:t>
            </a:r>
            <a:b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endParaRPr lang="en-US" sz="180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Menyusun DRP dan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memvalidasi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respons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pemulihan</a:t>
            </a:r>
            <a:b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endParaRPr lang="en-US" sz="180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●"/>
            </a:pP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Menyempurnakan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proses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keamanan</a:t>
            </a:r>
            <a: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u="none" strike="noStrike" dirty="0" err="1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berkelanjutan</a:t>
            </a:r>
            <a:br>
              <a:rPr lang="en-US" sz="1800" u="none" strike="noStrike" dirty="0">
                <a:solidFill>
                  <a:schemeClr val="tx1"/>
                </a:solidFill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</a:br>
            <a:endParaRPr lang="en-US" sz="1800" u="none" strike="noStrike" dirty="0">
              <a:solidFill>
                <a:schemeClr val="tx1"/>
              </a:solidFill>
              <a:effectLst/>
              <a:latin typeface="DM Sans" pitchFamily="2" charset="77"/>
              <a:ea typeface="DM Sans" pitchFamily="2" charset="77"/>
              <a:cs typeface="DM Sans" pitchFamily="2" charset="77"/>
            </a:endParaRPr>
          </a:p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endParaRPr lang="en-US" sz="1800" u="none" strike="noStrike" dirty="0">
              <a:solidFill>
                <a:schemeClr val="tx1"/>
              </a:solidFill>
              <a:effectLst/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ctrTitle"/>
          </p:nvPr>
        </p:nvSpPr>
        <p:spPr>
          <a:xfrm>
            <a:off x="248325" y="2523275"/>
            <a:ext cx="5442300" cy="1059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800"/>
              <a:t>Course-Net</a:t>
            </a:r>
            <a:endParaRPr sz="6800"/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1"/>
          </p:nvPr>
        </p:nvSpPr>
        <p:spPr>
          <a:xfrm>
            <a:off x="311700" y="4276125"/>
            <a:ext cx="4589400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Deck Template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ctrTitle"/>
          </p:nvPr>
        </p:nvSpPr>
        <p:spPr>
          <a:xfrm>
            <a:off x="506742" y="634840"/>
            <a:ext cx="7842128" cy="3579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 Lifecycle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Penanganan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Insiden</a:t>
            </a:r>
            <a:b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Mengacu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pada </a:t>
            </a:r>
            <a:r>
              <a:rPr lang="en-US" sz="20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NIST Incident Response Lifecycle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Preparation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Detection &amp; Analysis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Containment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Eradication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Recovery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Post-Incident Activity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Diagram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menggambarkan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alur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penanganan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insiden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tahap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persiapan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hingga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kegiatan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evaluasi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sz="7200" dirty="0"/>
          </a:p>
        </p:txBody>
      </p:sp>
    </p:spTree>
    <p:extLst>
      <p:ext uri="{BB962C8B-B14F-4D97-AF65-F5344CB8AC3E}">
        <p14:creationId xmlns:p14="http://schemas.microsoft.com/office/powerpoint/2010/main" val="29181367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6"/>
          <p:cNvSpPr txBox="1">
            <a:spLocks noGrp="1"/>
          </p:cNvSpPr>
          <p:nvPr>
            <p:ph type="ctrTitle"/>
          </p:nvPr>
        </p:nvSpPr>
        <p:spPr>
          <a:xfrm>
            <a:off x="1290045" y="688004"/>
            <a:ext cx="6563909" cy="57773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ctr">
              <a:spcBef>
                <a:spcPts val="0"/>
              </a:spcBef>
              <a:spcAft>
                <a:spcPts val="0"/>
              </a:spcAft>
            </a:pPr>
            <a:r>
              <a:rPr lang="en-US" sz="1800" dirty="0" err="1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Matriks</a:t>
            </a:r>
            <a:r>
              <a:rPr lang="en-US" sz="1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dirty="0" err="1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vektor</a:t>
            </a:r>
            <a:r>
              <a:rPr lang="en-US" sz="1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dirty="0" err="1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ancaman</a:t>
            </a:r>
            <a:r>
              <a:rPr lang="en-US" sz="1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dan </a:t>
            </a:r>
            <a:r>
              <a:rPr lang="en-US" sz="1800" dirty="0" err="1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analisis</a:t>
            </a:r>
            <a:r>
              <a:rPr lang="en-US" sz="1800" dirty="0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 </a:t>
            </a:r>
            <a:r>
              <a:rPr lang="en-US" sz="1800" dirty="0" err="1">
                <a:effectLst/>
                <a:latin typeface="DM Sans" pitchFamily="2" charset="77"/>
                <a:ea typeface="DM Sans" pitchFamily="2" charset="77"/>
                <a:cs typeface="DM Sans" pitchFamily="2" charset="77"/>
              </a:rPr>
              <a:t>risiko</a:t>
            </a:r>
            <a:r>
              <a:rPr lang="en-US" sz="800" dirty="0">
                <a:effectLst/>
              </a:rPr>
              <a:t> </a:t>
            </a:r>
            <a:b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sz="72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49DCC5F-F50C-BF40-A271-B8E8B913F1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7545903"/>
              </p:ext>
            </p:extLst>
          </p:nvPr>
        </p:nvGraphicFramePr>
        <p:xfrm>
          <a:off x="559611" y="1612679"/>
          <a:ext cx="8024776" cy="2244371"/>
        </p:xfrm>
        <a:graphic>
          <a:graphicData uri="http://schemas.openxmlformats.org/drawingml/2006/table">
            <a:tbl>
              <a:tblPr firstRow="1" firstCol="1" bandRow="1">
                <a:tableStyleId>{073A0DAA-6AF3-43AB-8588-CEC1D06C72B9}</a:tableStyleId>
              </a:tblPr>
              <a:tblGrid>
                <a:gridCol w="1481840">
                  <a:extLst>
                    <a:ext uri="{9D8B030D-6E8A-4147-A177-3AD203B41FA5}">
                      <a16:colId xmlns:a16="http://schemas.microsoft.com/office/drawing/2014/main" val="2207232449"/>
                    </a:ext>
                  </a:extLst>
                </a:gridCol>
                <a:gridCol w="1705122">
                  <a:extLst>
                    <a:ext uri="{9D8B030D-6E8A-4147-A177-3AD203B41FA5}">
                      <a16:colId xmlns:a16="http://schemas.microsoft.com/office/drawing/2014/main" val="1982946072"/>
                    </a:ext>
                  </a:extLst>
                </a:gridCol>
                <a:gridCol w="1467293">
                  <a:extLst>
                    <a:ext uri="{9D8B030D-6E8A-4147-A177-3AD203B41FA5}">
                      <a16:colId xmlns:a16="http://schemas.microsoft.com/office/drawing/2014/main" val="3627813024"/>
                    </a:ext>
                  </a:extLst>
                </a:gridCol>
                <a:gridCol w="1616148">
                  <a:extLst>
                    <a:ext uri="{9D8B030D-6E8A-4147-A177-3AD203B41FA5}">
                      <a16:colId xmlns:a16="http://schemas.microsoft.com/office/drawing/2014/main" val="3415261334"/>
                    </a:ext>
                  </a:extLst>
                </a:gridCol>
                <a:gridCol w="1754373">
                  <a:extLst>
                    <a:ext uri="{9D8B030D-6E8A-4147-A177-3AD203B41FA5}">
                      <a16:colId xmlns:a16="http://schemas.microsoft.com/office/drawing/2014/main" val="197422985"/>
                    </a:ext>
                  </a:extLst>
                </a:gridCol>
              </a:tblGrid>
              <a:tr h="503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Vektor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Ancaman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Kemungkinan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Dampak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Level </a:t>
                      </a:r>
                      <a:r>
                        <a:rPr lang="en-US" sz="1200" dirty="0" err="1">
                          <a:effectLst/>
                        </a:rPr>
                        <a:t>Risiko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Mitigasi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682161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Malware / Ransomware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Tinggi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Tinggi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Kritis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Backup rutin, antivirus, patch OS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932078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Phishing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Tinggi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Sedang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Tinggi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Awareness training, email filtering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877182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Insider Threat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Sedang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Tinggi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Tinggi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Access control &amp; monitoring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9069712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SQL Injection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Sedang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Tinggi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Tinggi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Secure coding &amp; WAF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780810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DDoS Attack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Rendah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Tinggi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Sedang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Traffic filtering &amp; rate limiting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26619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11702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752199" y="345676"/>
            <a:ext cx="75012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Jenis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Disimulasikan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Strategic Cyber Incident</a:t>
            </a:r>
            <a:b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92C6DC3-6E7B-C144-A429-62B341AC7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8312424"/>
              </p:ext>
            </p:extLst>
          </p:nvPr>
        </p:nvGraphicFramePr>
        <p:xfrm>
          <a:off x="752199" y="918376"/>
          <a:ext cx="7501256" cy="3635237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3399299">
                  <a:extLst>
                    <a:ext uri="{9D8B030D-6E8A-4147-A177-3AD203B41FA5}">
                      <a16:colId xmlns:a16="http://schemas.microsoft.com/office/drawing/2014/main" val="2519517871"/>
                    </a:ext>
                  </a:extLst>
                </a:gridCol>
                <a:gridCol w="4101957">
                  <a:extLst>
                    <a:ext uri="{9D8B030D-6E8A-4147-A177-3AD203B41FA5}">
                      <a16:colId xmlns:a16="http://schemas.microsoft.com/office/drawing/2014/main" val="167684453"/>
                    </a:ext>
                  </a:extLst>
                </a:gridCol>
              </a:tblGrid>
              <a:tr h="6520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Jenis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Insiden</a:t>
                      </a:r>
                      <a:endParaRPr lang="en-US" sz="1400" dirty="0">
                        <a:effectLst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 err="1">
                          <a:effectLst/>
                        </a:rPr>
                        <a:t>Skenario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Strategis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dalam</a:t>
                      </a:r>
                      <a:r>
                        <a:rPr lang="en-US" sz="1400" dirty="0">
                          <a:effectLst/>
                        </a:rPr>
                        <a:t> </a:t>
                      </a:r>
                      <a:r>
                        <a:rPr lang="en-US" sz="1400" dirty="0" err="1">
                          <a:effectLst/>
                        </a:rPr>
                        <a:t>Infrastruktur</a:t>
                      </a:r>
                      <a:r>
                        <a:rPr lang="en-US" sz="1400" dirty="0">
                          <a:effectLst/>
                        </a:rPr>
                        <a:t> Hybrid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45423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D" sz="1200" b="0" dirty="0"/>
                        <a:t>Suspicious PowerShell Activity (Possible Malware Execution)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PowerShell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ScriptBlock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execution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terdeteksi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pada host on-premise yang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merupakan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bagian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domain environment.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Aktivitas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dapat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menjadi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entry point malware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untuk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lateral movement,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eksploitasi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AD,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hingga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pivot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ke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layanan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cloud yang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terhubung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dalam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arsitektur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hybrid.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614611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 dirty="0">
                          <a:effectLst/>
                        </a:rPr>
                        <a:t>Phishing </a:t>
                      </a:r>
                      <a:r>
                        <a:rPr lang="en-US" sz="1200" b="0" dirty="0" err="1">
                          <a:effectLst/>
                        </a:rPr>
                        <a:t>Bertarget</a:t>
                      </a:r>
                      <a:r>
                        <a:rPr lang="en-US" sz="1200" b="0" dirty="0">
                          <a:effectLst/>
                        </a:rPr>
                        <a:t> (Spear Phishing)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Pengelabuan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Kredensial</a:t>
                      </a:r>
                      <a:r>
                        <a:rPr lang="en-US" sz="1200" dirty="0">
                          <a:effectLst/>
                        </a:rPr>
                        <a:t> Admin/DevOps: Email yang sangat </a:t>
                      </a:r>
                      <a:r>
                        <a:rPr lang="en-US" sz="1200" dirty="0" err="1">
                          <a:effectLst/>
                        </a:rPr>
                        <a:t>meyakinkan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menargetkan</a:t>
                      </a:r>
                      <a:r>
                        <a:rPr lang="en-US" sz="1200" dirty="0">
                          <a:effectLst/>
                        </a:rPr>
                        <a:t> developer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admin yang </a:t>
                      </a:r>
                      <a:r>
                        <a:rPr lang="en-US" sz="1200" dirty="0" err="1">
                          <a:effectLst/>
                        </a:rPr>
                        <a:t>mengelola</a:t>
                      </a:r>
                      <a:r>
                        <a:rPr lang="en-US" sz="1200" dirty="0">
                          <a:effectLst/>
                        </a:rPr>
                        <a:t> pipeline CI/CD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storage account di cloud. Tujuannya </a:t>
                      </a:r>
                      <a:r>
                        <a:rPr lang="en-US" sz="1200" dirty="0" err="1">
                          <a:effectLst/>
                        </a:rPr>
                        <a:t>adalah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mendapatkan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kunci</a:t>
                      </a:r>
                      <a:r>
                        <a:rPr lang="en-US" sz="1200" dirty="0">
                          <a:effectLst/>
                        </a:rPr>
                        <a:t> API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token </a:t>
                      </a:r>
                      <a:r>
                        <a:rPr lang="en-US" sz="1200" dirty="0" err="1">
                          <a:effectLst/>
                        </a:rPr>
                        <a:t>akses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kritis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479437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0">
                          <a:effectLst/>
                        </a:rPr>
                        <a:t>Distributed Denial of Service (DDoS) Terkoordinasi</a:t>
                      </a:r>
                      <a:endParaRPr lang="en-US" sz="1200" b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Serangan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Berlapis</a:t>
                      </a:r>
                      <a:r>
                        <a:rPr lang="en-US" sz="1200" dirty="0">
                          <a:effectLst/>
                        </a:rPr>
                        <a:t>: </a:t>
                      </a:r>
                      <a:r>
                        <a:rPr lang="en-US" sz="1200" dirty="0" err="1">
                          <a:effectLst/>
                        </a:rPr>
                        <a:t>Serangan</a:t>
                      </a:r>
                      <a:r>
                        <a:rPr lang="en-US" sz="1200" dirty="0">
                          <a:effectLst/>
                        </a:rPr>
                        <a:t> DDoS yang </a:t>
                      </a:r>
                      <a:r>
                        <a:rPr lang="en-US" sz="1200" dirty="0" err="1">
                          <a:effectLst/>
                        </a:rPr>
                        <a:t>menargetkan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komponen</a:t>
                      </a:r>
                      <a:r>
                        <a:rPr lang="en-US" sz="1200" dirty="0">
                          <a:effectLst/>
                        </a:rPr>
                        <a:t> load balancer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Web Application Firewall (WAF) yang </a:t>
                      </a:r>
                      <a:r>
                        <a:rPr lang="en-US" sz="1200" dirty="0" err="1">
                          <a:effectLst/>
                        </a:rPr>
                        <a:t>berjalan</a:t>
                      </a:r>
                      <a:r>
                        <a:rPr lang="en-US" sz="1200" dirty="0">
                          <a:effectLst/>
                        </a:rPr>
                        <a:t> di cloud, </a:t>
                      </a:r>
                      <a:r>
                        <a:rPr lang="en-US" sz="1200" dirty="0" err="1">
                          <a:effectLst/>
                        </a:rPr>
                        <a:t>sekaligus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menargetkan</a:t>
                      </a:r>
                      <a:r>
                        <a:rPr lang="en-US" sz="1200" dirty="0">
                          <a:effectLst/>
                        </a:rPr>
                        <a:t> database server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legacy application yang </a:t>
                      </a:r>
                      <a:r>
                        <a:rPr lang="en-US" sz="1200" dirty="0" err="1">
                          <a:effectLst/>
                        </a:rPr>
                        <a:t>masih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berjalan</a:t>
                      </a:r>
                      <a:r>
                        <a:rPr lang="en-US" sz="1200" dirty="0">
                          <a:effectLst/>
                        </a:rPr>
                        <a:t> on-premise. Tujuannya </a:t>
                      </a:r>
                      <a:r>
                        <a:rPr lang="en-US" sz="1200" dirty="0" err="1">
                          <a:effectLst/>
                        </a:rPr>
                        <a:t>adalah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mengganggu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layanan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kritis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secara</a:t>
                      </a:r>
                      <a:r>
                        <a:rPr lang="en-US" sz="1200" dirty="0">
                          <a:effectLst/>
                        </a:rPr>
                        <a:t> total.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2544503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8;p17">
            <a:extLst>
              <a:ext uri="{FF2B5EF4-FFF2-40B4-BE49-F238E27FC236}">
                <a16:creationId xmlns:a16="http://schemas.microsoft.com/office/drawing/2014/main" id="{731356C1-EA1A-3041-BF12-BA071A08A3C0}"/>
              </a:ext>
            </a:extLst>
          </p:cNvPr>
          <p:cNvSpPr txBox="1">
            <a:spLocks/>
          </p:cNvSpPr>
          <p:nvPr/>
        </p:nvSpPr>
        <p:spPr>
          <a:xfrm>
            <a:off x="603110" y="552678"/>
            <a:ext cx="7865029" cy="42976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algn="just">
              <a:spcBef>
                <a:spcPts val="0"/>
              </a:spcBef>
            </a:pP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Tindakan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triage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penentuan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prioritas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dan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containment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pembendungan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harus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mempertimbangkan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aliran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data dan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ketergantungan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antara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lingkungan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marR="0" algn="just">
              <a:spcBef>
                <a:spcPts val="0"/>
              </a:spcBef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 Triage (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Penentuan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Prioritas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Verifikasi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Cepat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Memanfaatkan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log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terpusat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SIEM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mengintegrasikan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log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memverifikasi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alarm.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Penentuan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Skala dan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Dampak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Menilai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apakah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memengaruhi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identitas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risiko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tertinggi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karena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kunci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universal),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jaringan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terhubung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data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sensitif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(GDPR/Data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Keuangan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Prioritas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Respons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melibatkan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kompromi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identitas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akses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storage account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kritis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di-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triage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sebagai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Kritis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ditangani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segera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5781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0FC402-E2FF-494C-9C68-885DB8954CA3}"/>
              </a:ext>
            </a:extLst>
          </p:cNvPr>
          <p:cNvSpPr txBox="1"/>
          <p:nvPr/>
        </p:nvSpPr>
        <p:spPr>
          <a:xfrm>
            <a:off x="827984" y="614643"/>
            <a:ext cx="6559827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Containment (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Pembendungan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16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Tujuan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utama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adalah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memutus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rantai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serangan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tanpa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menyebabkan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outage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total yang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tidak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perlu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9A797BE-FA63-7149-818B-CE236FE00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0387721"/>
              </p:ext>
            </p:extLst>
          </p:nvPr>
        </p:nvGraphicFramePr>
        <p:xfrm>
          <a:off x="827984" y="1619249"/>
          <a:ext cx="7302225" cy="24160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2658">
                  <a:extLst>
                    <a:ext uri="{9D8B030D-6E8A-4147-A177-3AD203B41FA5}">
                      <a16:colId xmlns:a16="http://schemas.microsoft.com/office/drawing/2014/main" val="1260736176"/>
                    </a:ext>
                  </a:extLst>
                </a:gridCol>
                <a:gridCol w="4649567">
                  <a:extLst>
                    <a:ext uri="{9D8B030D-6E8A-4147-A177-3AD203B41FA5}">
                      <a16:colId xmlns:a16="http://schemas.microsoft.com/office/drawing/2014/main" val="2193902589"/>
                    </a:ext>
                  </a:extLst>
                </a:gridCol>
              </a:tblGrid>
              <a:tr h="2561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Lingkungan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Tindakan Containment Utama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54264863"/>
                  </a:ext>
                </a:extLst>
              </a:tr>
              <a:tr h="7199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Cloud (</a:t>
                      </a:r>
                      <a:r>
                        <a:rPr lang="en-US" sz="1200" dirty="0" err="1">
                          <a:effectLst/>
                        </a:rPr>
                        <a:t>Identitas</a:t>
                      </a:r>
                      <a:r>
                        <a:rPr lang="en-US" sz="1200" dirty="0">
                          <a:effectLst/>
                        </a:rPr>
                        <a:t>/API)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Blokir atau Force Reset Kredensial: Segera revoke atau reset token API/kunci akses yang terkompromi. Nonaktifkan akun cloud (misalnya, IAM User) yang dicurigai.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32040612"/>
                  </a:ext>
                </a:extLst>
              </a:tr>
              <a:tr h="7199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Cloud (Jaringan/App)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Isolasi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Logis</a:t>
                      </a:r>
                      <a:r>
                        <a:rPr lang="en-US" sz="1200" dirty="0">
                          <a:effectLst/>
                        </a:rPr>
                        <a:t>: </a:t>
                      </a:r>
                      <a:r>
                        <a:rPr lang="en-US" sz="1200" dirty="0" err="1">
                          <a:effectLst/>
                        </a:rPr>
                        <a:t>Terapkan</a:t>
                      </a:r>
                      <a:r>
                        <a:rPr lang="en-US" sz="1200" dirty="0">
                          <a:effectLst/>
                        </a:rPr>
                        <a:t> Network Security Groups (NSG)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Security Groups yang </a:t>
                      </a:r>
                      <a:r>
                        <a:rPr lang="en-US" sz="1200" dirty="0" err="1">
                          <a:effectLst/>
                        </a:rPr>
                        <a:t>ketat</a:t>
                      </a:r>
                      <a:r>
                        <a:rPr lang="en-US" sz="1200" dirty="0">
                          <a:effectLst/>
                        </a:rPr>
                        <a:t> di cloud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mengisolasi</a:t>
                      </a:r>
                      <a:r>
                        <a:rPr lang="en-US" sz="1200" dirty="0">
                          <a:effectLst/>
                        </a:rPr>
                        <a:t> Virtual Machine (VM) yang </a:t>
                      </a:r>
                      <a:r>
                        <a:rPr lang="en-US" sz="1200" dirty="0" err="1">
                          <a:effectLst/>
                        </a:rPr>
                        <a:t>terinfeksi</a:t>
                      </a:r>
                      <a:r>
                        <a:rPr lang="en-US" sz="1200" dirty="0">
                          <a:effectLst/>
                        </a:rPr>
                        <a:t>. </a:t>
                      </a:r>
                      <a:r>
                        <a:rPr lang="en-US" sz="1200" dirty="0" err="1">
                          <a:effectLst/>
                        </a:rPr>
                        <a:t>Aktifkan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mitigasi</a:t>
                      </a:r>
                      <a:r>
                        <a:rPr lang="en-US" sz="1200" dirty="0">
                          <a:effectLst/>
                        </a:rPr>
                        <a:t> DDoS </a:t>
                      </a:r>
                      <a:r>
                        <a:rPr lang="en-US" sz="1200" dirty="0" err="1">
                          <a:effectLst/>
                        </a:rPr>
                        <a:t>bawaan</a:t>
                      </a:r>
                      <a:r>
                        <a:rPr lang="en-US" sz="1200" dirty="0">
                          <a:effectLst/>
                        </a:rPr>
                        <a:t> cloud.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80557219"/>
                  </a:ext>
                </a:extLst>
              </a:tr>
              <a:tr h="719979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On-Premise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Isolasi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Jaringan</a:t>
                      </a:r>
                      <a:r>
                        <a:rPr lang="en-US" sz="1200" dirty="0">
                          <a:effectLst/>
                        </a:rPr>
                        <a:t>: </a:t>
                      </a:r>
                      <a:r>
                        <a:rPr lang="en-US" sz="1200" dirty="0" err="1">
                          <a:effectLst/>
                        </a:rPr>
                        <a:t>Isolasikan</a:t>
                      </a:r>
                      <a:r>
                        <a:rPr lang="en-US" sz="1200" dirty="0">
                          <a:effectLst/>
                        </a:rPr>
                        <a:t> host on-premise yang </a:t>
                      </a:r>
                      <a:r>
                        <a:rPr lang="en-US" sz="1200" dirty="0" err="1">
                          <a:effectLst/>
                        </a:rPr>
                        <a:t>terinfeksi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dari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jaringan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lokal</a:t>
                      </a:r>
                      <a:r>
                        <a:rPr lang="en-US" sz="1200" dirty="0">
                          <a:effectLst/>
                        </a:rPr>
                        <a:t> dan </a:t>
                      </a:r>
                      <a:r>
                        <a:rPr lang="en-US" sz="1200" dirty="0" err="1">
                          <a:effectLst/>
                        </a:rPr>
                        <a:t>dari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koneksi</a:t>
                      </a:r>
                      <a:r>
                        <a:rPr lang="en-US" sz="1200" dirty="0">
                          <a:effectLst/>
                        </a:rPr>
                        <a:t> cloud (</a:t>
                      </a:r>
                      <a:r>
                        <a:rPr lang="en-US" sz="1200" dirty="0" err="1">
                          <a:effectLst/>
                        </a:rPr>
                        <a:t>misalnya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matikan</a:t>
                      </a:r>
                      <a:r>
                        <a:rPr lang="en-US" sz="1200" dirty="0">
                          <a:effectLst/>
                        </a:rPr>
                        <a:t> VPN tunnel </a:t>
                      </a:r>
                      <a:r>
                        <a:rPr lang="en-US" sz="1200" dirty="0" err="1">
                          <a:effectLst/>
                        </a:rPr>
                        <a:t>jika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kompromi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berasal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dari</a:t>
                      </a:r>
                      <a:r>
                        <a:rPr lang="en-US" sz="1200" dirty="0">
                          <a:effectLst/>
                        </a:rPr>
                        <a:t> on-premise </a:t>
                      </a:r>
                      <a:r>
                        <a:rPr lang="en-US" sz="1200" dirty="0" err="1">
                          <a:effectLst/>
                        </a:rPr>
                        <a:t>menuju</a:t>
                      </a:r>
                      <a:r>
                        <a:rPr lang="en-US" sz="1200" dirty="0">
                          <a:effectLst/>
                        </a:rPr>
                        <a:t> cloud).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0479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52192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0FC402-E2FF-494C-9C68-885DB8954CA3}"/>
              </a:ext>
            </a:extLst>
          </p:cNvPr>
          <p:cNvSpPr txBox="1"/>
          <p:nvPr/>
        </p:nvSpPr>
        <p:spPr>
          <a:xfrm>
            <a:off x="847862" y="305503"/>
            <a:ext cx="7602881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Investigasi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harus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mencakup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artefak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kedua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lingkungan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melacak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lateral movement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persistence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14D6314-7C86-964E-8131-0AC9DF148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9966944"/>
              </p:ext>
            </p:extLst>
          </p:nvPr>
        </p:nvGraphicFramePr>
        <p:xfrm>
          <a:off x="693256" y="1140920"/>
          <a:ext cx="7757487" cy="34395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7509">
                  <a:extLst>
                    <a:ext uri="{9D8B030D-6E8A-4147-A177-3AD203B41FA5}">
                      <a16:colId xmlns:a16="http://schemas.microsoft.com/office/drawing/2014/main" val="677299404"/>
                    </a:ext>
                  </a:extLst>
                </a:gridCol>
                <a:gridCol w="2724149">
                  <a:extLst>
                    <a:ext uri="{9D8B030D-6E8A-4147-A177-3AD203B41FA5}">
                      <a16:colId xmlns:a16="http://schemas.microsoft.com/office/drawing/2014/main" val="3910879593"/>
                    </a:ext>
                  </a:extLst>
                </a:gridCol>
                <a:gridCol w="2585829">
                  <a:extLst>
                    <a:ext uri="{9D8B030D-6E8A-4147-A177-3AD203B41FA5}">
                      <a16:colId xmlns:a16="http://schemas.microsoft.com/office/drawing/2014/main" val="3358004995"/>
                    </a:ext>
                  </a:extLst>
                </a:gridCol>
              </a:tblGrid>
              <a:tr h="183821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Artefak Investigasi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Lingkungan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Tujuan Analisis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extLst>
                  <a:ext uri="{0D108BD9-81ED-4DB2-BD59-A6C34878D82A}">
                    <a16:rowId xmlns:a16="http://schemas.microsoft.com/office/drawing/2014/main" val="153751163"/>
                  </a:ext>
                </a:extLst>
              </a:tr>
              <a:tr h="8497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Log Aktivitas Identitas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Cloud (CloudTrail / Azure Activity Log)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Mengidentifikasi kapan dan dari mana kredensial yang terkompromi pertama kali digunakan, peran apa yang diasumsikan penyerang, dan layanan apa yang mereka akses.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extLst>
                  <a:ext uri="{0D108BD9-81ED-4DB2-BD59-A6C34878D82A}">
                    <a16:rowId xmlns:a16="http://schemas.microsoft.com/office/drawing/2014/main" val="3999027073"/>
                  </a:ext>
                </a:extLst>
              </a:tr>
              <a:tr h="8497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>
                          <a:effectLst/>
                        </a:rPr>
                        <a:t>Log Event Viewer / MFT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On-Premise (Host yang terinfeksi)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Mengidentifikasi persistence mechanism (Registry Run Keys, Scheduled Tasks), file yang dimodifikasi oleh malware, dan aktivitas lateral movement di jaringan internal.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extLst>
                  <a:ext uri="{0D108BD9-81ED-4DB2-BD59-A6C34878D82A}">
                    <a16:rowId xmlns:a16="http://schemas.microsoft.com/office/drawing/2014/main" val="2755035929"/>
                  </a:ext>
                </a:extLst>
              </a:tr>
              <a:tr h="6832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Header Email / URL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Hybrid (Email Gateway)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Melacak rute phishing email dan menganalisis payload atau link berbahaya yang digunakan untuk mendapatkan akses awal.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extLst>
                  <a:ext uri="{0D108BD9-81ED-4DB2-BD59-A6C34878D82A}">
                    <a16:rowId xmlns:a16="http://schemas.microsoft.com/office/drawing/2014/main" val="2474263325"/>
                  </a:ext>
                </a:extLst>
              </a:tr>
              <a:tr h="84974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Memory Dump (Volatile Data)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>
                          <a:effectLst/>
                        </a:rPr>
                        <a:t>On-Premise (Host yang terinfeksi)</a:t>
                      </a:r>
                      <a:endParaRPr lang="en-US" sz="11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dirty="0" err="1">
                          <a:effectLst/>
                        </a:rPr>
                        <a:t>Mengidentifikasi</a:t>
                      </a:r>
                      <a:r>
                        <a:rPr lang="en-US" sz="1100" dirty="0">
                          <a:effectLst/>
                        </a:rPr>
                        <a:t> live processes, network connections </a:t>
                      </a:r>
                      <a:r>
                        <a:rPr lang="en-US" sz="1100" dirty="0" err="1">
                          <a:effectLst/>
                        </a:rPr>
                        <a:t>tersembunyi</a:t>
                      </a:r>
                      <a:r>
                        <a:rPr lang="en-US" sz="1100" dirty="0">
                          <a:effectLst/>
                        </a:rPr>
                        <a:t>, dan </a:t>
                      </a:r>
                      <a:r>
                        <a:rPr lang="en-US" sz="1100" dirty="0" err="1">
                          <a:effectLst/>
                        </a:rPr>
                        <a:t>kredensial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dalam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memori</a:t>
                      </a:r>
                      <a:r>
                        <a:rPr lang="en-US" sz="1100" dirty="0">
                          <a:effectLst/>
                        </a:rPr>
                        <a:t> yang </a:t>
                      </a:r>
                      <a:r>
                        <a:rPr lang="en-US" sz="1100" dirty="0" err="1">
                          <a:effectLst/>
                        </a:rPr>
                        <a:t>mungkin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dicuri</a:t>
                      </a:r>
                      <a:r>
                        <a:rPr lang="en-US" sz="1100" dirty="0">
                          <a:effectLst/>
                        </a:rPr>
                        <a:t> </a:t>
                      </a:r>
                      <a:r>
                        <a:rPr lang="en-US" sz="1100" dirty="0" err="1">
                          <a:effectLst/>
                        </a:rPr>
                        <a:t>penyerang</a:t>
                      </a:r>
                      <a:r>
                        <a:rPr lang="en-US" sz="1100" dirty="0">
                          <a:effectLst/>
                        </a:rPr>
                        <a:t> (</a:t>
                      </a:r>
                      <a:r>
                        <a:rPr lang="en-US" sz="1100" dirty="0" err="1">
                          <a:effectLst/>
                        </a:rPr>
                        <a:t>misalnya</a:t>
                      </a:r>
                      <a:r>
                        <a:rPr lang="en-US" sz="1100" dirty="0">
                          <a:effectLst/>
                        </a:rPr>
                        <a:t>, </a:t>
                      </a:r>
                      <a:r>
                        <a:rPr lang="en-US" sz="1100" dirty="0" err="1">
                          <a:effectLst/>
                        </a:rPr>
                        <a:t>menggunakan</a:t>
                      </a:r>
                      <a:r>
                        <a:rPr lang="en-US" sz="1100" dirty="0">
                          <a:effectLst/>
                        </a:rPr>
                        <a:t> tools </a:t>
                      </a:r>
                      <a:r>
                        <a:rPr lang="en-US" sz="1100" dirty="0" err="1">
                          <a:effectLst/>
                        </a:rPr>
                        <a:t>seperti</a:t>
                      </a:r>
                      <a:r>
                        <a:rPr lang="en-US" sz="1100" dirty="0">
                          <a:effectLst/>
                        </a:rPr>
                        <a:t> Volatility).</a:t>
                      </a:r>
                      <a:endParaRPr lang="en-US" sz="11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8671" marR="8671" marT="8671" marB="8671" anchor="ctr"/>
                </a:tc>
                <a:extLst>
                  <a:ext uri="{0D108BD9-81ED-4DB2-BD59-A6C34878D82A}">
                    <a16:rowId xmlns:a16="http://schemas.microsoft.com/office/drawing/2014/main" val="2551672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821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F10FC402-E2FF-494C-9C68-885DB8954CA3}"/>
              </a:ext>
            </a:extLst>
          </p:cNvPr>
          <p:cNvSpPr txBox="1"/>
          <p:nvPr/>
        </p:nvSpPr>
        <p:spPr>
          <a:xfrm>
            <a:off x="770558" y="1458443"/>
            <a:ext cx="7602881" cy="3057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>
              <a:spcBef>
                <a:spcPts val="0"/>
              </a:spcBef>
            </a:pP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Laporan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singkat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berisi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Initial Scope: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Berapa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banyak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akun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host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terkena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dampak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Critical Findings (IoC):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Kunci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API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dicuri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IP Command &amp; Control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C2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hash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malware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Current Status: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Status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containment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Berhasil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Sebagian,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Masih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Berjalan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Next Steps: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Rencana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Eradication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Pemberantasan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dan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Forensic Analysis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lebih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just"/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1F05B2-F1D9-644D-ABE7-902EC11D6CEF}"/>
              </a:ext>
            </a:extLst>
          </p:cNvPr>
          <p:cNvSpPr txBox="1"/>
          <p:nvPr/>
        </p:nvSpPr>
        <p:spPr>
          <a:xfrm>
            <a:off x="770558" y="627810"/>
            <a:ext cx="7602881" cy="369332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Laporan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Awal (Initial Summary Report)</a:t>
            </a:r>
            <a:r>
              <a:rPr lang="en-US" dirty="0">
                <a:effectLst/>
              </a:rPr>
              <a:t> 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85988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FCA5155-63BE-B9AC-3D39-DDFA5CF31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DBBDFCE3-5709-20FD-9800-6AB2A31A41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marL="342900" lvl="0" algn="just"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Lanjutan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ID" dirty="0" err="1"/>
              <a:t>Aktivitas</a:t>
            </a:r>
            <a:r>
              <a:rPr lang="en-ID" dirty="0"/>
              <a:t> PowerShell </a:t>
            </a:r>
            <a:r>
              <a:rPr lang="en-ID" dirty="0" err="1"/>
              <a:t>mencurigakan</a:t>
            </a:r>
            <a:r>
              <a:rPr lang="en-ID" dirty="0"/>
              <a:t> </a:t>
            </a:r>
            <a:r>
              <a:rPr lang="en-ID" dirty="0" err="1"/>
              <a:t>terdeteksi</a:t>
            </a:r>
            <a:r>
              <a:rPr lang="en-ID" dirty="0"/>
              <a:t> pada endpoint, </a:t>
            </a:r>
            <a:r>
              <a:rPr lang="en-ID" dirty="0" err="1"/>
              <a:t>menunjukkan</a:t>
            </a:r>
            <a:r>
              <a:rPr lang="en-ID" dirty="0"/>
              <a:t> </a:t>
            </a:r>
            <a:r>
              <a:rPr lang="en-ID" dirty="0" err="1"/>
              <a:t>upaya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script yang </a:t>
            </a:r>
            <a:r>
              <a:rPr lang="en-ID" dirty="0" err="1"/>
              <a:t>berpotensi</a:t>
            </a:r>
            <a:r>
              <a:rPr lang="en-ID" dirty="0"/>
              <a:t>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memuat</a:t>
            </a:r>
            <a:r>
              <a:rPr lang="en-ID" dirty="0"/>
              <a:t> </a:t>
            </a:r>
            <a:r>
              <a:rPr lang="en-ID" dirty="0" err="1"/>
              <a:t>atau</a:t>
            </a:r>
            <a:r>
              <a:rPr lang="en-ID" dirty="0"/>
              <a:t> </a:t>
            </a:r>
            <a:r>
              <a:rPr lang="en-ID" dirty="0" err="1"/>
              <a:t>menjalankan</a:t>
            </a:r>
            <a:r>
              <a:rPr lang="en-ID" dirty="0"/>
              <a:t> malware.</a:t>
            </a:r>
          </a:p>
          <a:p>
            <a:pPr marL="342900" lvl="0" algn="just"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Fokus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Respons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Lanjutan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Mendalam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Mengumpulkan</a:t>
            </a:r>
            <a:r>
              <a:rPr lang="en-ID" dirty="0"/>
              <a:t> </a:t>
            </a:r>
            <a:r>
              <a:rPr lang="en-ID" dirty="0" err="1"/>
              <a:t>ScriptBlock</a:t>
            </a:r>
            <a:r>
              <a:rPr lang="en-ID" dirty="0"/>
              <a:t> logs, parent process, dan </a:t>
            </a:r>
            <a:r>
              <a:rPr lang="en-ID" dirty="0" err="1"/>
              <a:t>artefak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</a:t>
            </a:r>
            <a:r>
              <a:rPr lang="en-ID" dirty="0" err="1"/>
              <a:t>sumber</a:t>
            </a:r>
            <a:r>
              <a:rPr lang="en-ID" dirty="0"/>
              <a:t> dan </a:t>
            </a:r>
            <a:r>
              <a:rPr lang="en-ID" dirty="0" err="1"/>
              <a:t>tujuan</a:t>
            </a:r>
            <a:r>
              <a:rPr lang="en-ID" dirty="0"/>
              <a:t> script.</a:t>
            </a: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Pengamanan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Akses: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Memblokir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PowerShell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sah</a:t>
            </a:r>
            <a:r>
              <a:rPr lang="en-ID" dirty="0"/>
              <a:t>, </a:t>
            </a:r>
            <a:r>
              <a:rPr lang="en-ID" dirty="0" err="1"/>
              <a:t>melakukan</a:t>
            </a:r>
            <a:r>
              <a:rPr lang="en-ID" dirty="0"/>
              <a:t> </a:t>
            </a:r>
            <a:r>
              <a:rPr lang="en-ID" dirty="0" err="1"/>
              <a:t>isolasi</a:t>
            </a:r>
            <a:r>
              <a:rPr lang="en-ID" dirty="0"/>
              <a:t> endpoint, dan </a:t>
            </a:r>
            <a:r>
              <a:rPr lang="en-ID" dirty="0" err="1"/>
              <a:t>membersihkan</a:t>
            </a:r>
            <a:r>
              <a:rPr lang="en-ID" dirty="0"/>
              <a:t> file </a:t>
            </a:r>
            <a:r>
              <a:rPr lang="en-ID" dirty="0" err="1"/>
              <a:t>atau</a:t>
            </a:r>
            <a:r>
              <a:rPr lang="en-ID" dirty="0"/>
              <a:t> proses </a:t>
            </a:r>
            <a:r>
              <a:rPr lang="en-ID" dirty="0" err="1"/>
              <a:t>terkait</a:t>
            </a:r>
            <a:r>
              <a:rPr lang="en-ID" dirty="0"/>
              <a:t>.</a:t>
            </a: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Koordinasi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Hukum/HRD: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Meninjau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PowerShell, </a:t>
            </a:r>
            <a:r>
              <a:rPr lang="en-ID" dirty="0" err="1"/>
              <a:t>membatasi</a:t>
            </a:r>
            <a:r>
              <a:rPr lang="en-ID" dirty="0"/>
              <a:t> </a:t>
            </a:r>
            <a:r>
              <a:rPr lang="en-ID" dirty="0" err="1"/>
              <a:t>eksekusi</a:t>
            </a:r>
            <a:r>
              <a:rPr lang="en-ID" dirty="0"/>
              <a:t> script pada host </a:t>
            </a:r>
            <a:r>
              <a:rPr lang="en-ID" dirty="0" err="1"/>
              <a:t>kritis</a:t>
            </a:r>
            <a:r>
              <a:rPr lang="en-ID" dirty="0"/>
              <a:t>, dan </a:t>
            </a:r>
            <a:r>
              <a:rPr lang="en-ID" dirty="0" err="1"/>
              <a:t>memperkuat</a:t>
            </a:r>
            <a:r>
              <a:rPr lang="en-ID" dirty="0"/>
              <a:t> EDR/MFA pada </a:t>
            </a:r>
            <a:r>
              <a:rPr lang="en-ID" dirty="0" err="1"/>
              <a:t>akun</a:t>
            </a:r>
            <a:r>
              <a:rPr lang="en-ID" dirty="0"/>
              <a:t> yang </a:t>
            </a:r>
            <a:r>
              <a:rPr lang="en-ID" dirty="0" err="1"/>
              <a:t>terlibat</a:t>
            </a:r>
            <a:r>
              <a:rPr lang="en-ID" dirty="0"/>
              <a:t>.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E0438E-0F68-30D8-15EA-1D00F8DDD8F2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311700" y="555600"/>
            <a:ext cx="2808000" cy="702511"/>
          </a:xfrm>
        </p:spPr>
        <p:txBody>
          <a:bodyPr>
            <a:noAutofit/>
          </a:bodyPr>
          <a:lstStyle/>
          <a:p>
            <a:r>
              <a:rPr lang="en-ID" sz="1400" dirty="0"/>
              <a:t>Suspicious PowerShell Activity (Possible Malware Execution)</a:t>
            </a:r>
            <a:br>
              <a:rPr lang="en-US" sz="1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1400" dirty="0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D9C804-48E1-562B-D32D-3B7F42D3EC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001" y="1258111"/>
            <a:ext cx="3567999" cy="23733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2835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A screenshot of a computer error message&#10;&#10;AI-generated content may be incorrect.">
            <a:extLst>
              <a:ext uri="{FF2B5EF4-FFF2-40B4-BE49-F238E27FC236}">
                <a16:creationId xmlns:a16="http://schemas.microsoft.com/office/drawing/2014/main" id="{6BCD6FE4-C0BE-C06D-85E2-4E6F6E3A7FFE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29820" r="29820"/>
          <a:stretch>
            <a:fillRect/>
          </a:stretch>
        </p:blipFill>
        <p:spPr>
          <a:xfrm>
            <a:off x="5800140" y="-71336"/>
            <a:ext cx="3343860" cy="51444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96C3923B-917C-5F5B-348C-431F17C6B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28061937-596D-53CB-1E61-C86C3FE6F2C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pPr marL="342900" lvl="0" algn="just"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Lanjutan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ID" dirty="0" err="1"/>
              <a:t>Kredensial</a:t>
            </a:r>
            <a:r>
              <a:rPr lang="en-ID" dirty="0"/>
              <a:t> </a:t>
            </a:r>
            <a:r>
              <a:rPr lang="en-ID" dirty="0" err="1"/>
              <a:t>karyawan</a:t>
            </a:r>
            <a:r>
              <a:rPr lang="en-ID" dirty="0"/>
              <a:t> </a:t>
            </a:r>
            <a:r>
              <a:rPr lang="en-ID" dirty="0" err="1"/>
              <a:t>dicuri</a:t>
            </a:r>
            <a:r>
              <a:rPr lang="en-ID" dirty="0"/>
              <a:t> </a:t>
            </a:r>
            <a:r>
              <a:rPr lang="en-ID" dirty="0" err="1"/>
              <a:t>melalui</a:t>
            </a:r>
            <a:r>
              <a:rPr lang="en-ID" dirty="0"/>
              <a:t> email phishing dan </a:t>
            </a:r>
            <a:r>
              <a:rPr lang="en-ID" dirty="0" err="1"/>
              <a:t>digunakan</a:t>
            </a:r>
            <a:r>
              <a:rPr lang="en-ID" dirty="0"/>
              <a:t> </a:t>
            </a:r>
            <a:r>
              <a:rPr lang="en-ID" dirty="0" err="1"/>
              <a:t>pelaku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mencoba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internal.</a:t>
            </a:r>
          </a:p>
          <a:p>
            <a:pPr marL="342900" lvl="0" algn="just"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Fokus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Respons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Lanjutan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Mendalam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Mengumpulkan</a:t>
            </a:r>
            <a:r>
              <a:rPr lang="en-ID" dirty="0"/>
              <a:t> </a:t>
            </a:r>
            <a:r>
              <a:rPr lang="en-ID" dirty="0" err="1"/>
              <a:t>bukti</a:t>
            </a:r>
            <a:r>
              <a:rPr lang="en-ID" dirty="0"/>
              <a:t> email phishing, URL </a:t>
            </a:r>
            <a:r>
              <a:rPr lang="en-ID" dirty="0" err="1"/>
              <a:t>berbahaya</a:t>
            </a:r>
            <a:r>
              <a:rPr lang="en-ID" dirty="0"/>
              <a:t>, dan </a:t>
            </a:r>
            <a:r>
              <a:rPr lang="en-ID" dirty="0" err="1"/>
              <a:t>aktivitas</a:t>
            </a:r>
            <a:r>
              <a:rPr lang="en-ID" dirty="0"/>
              <a:t> login </a:t>
            </a:r>
            <a:r>
              <a:rPr lang="en-ID" dirty="0" err="1"/>
              <a:t>mencurigakan</a:t>
            </a:r>
            <a:r>
              <a:rPr lang="en-ID" dirty="0"/>
              <a:t>.</a:t>
            </a: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Pengamanan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Akses: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/>
              <a:t>Reset </a:t>
            </a:r>
            <a:r>
              <a:rPr lang="en-ID" dirty="0" err="1"/>
              <a:t>kredensial</a:t>
            </a:r>
            <a:r>
              <a:rPr lang="en-ID" dirty="0"/>
              <a:t>, </a:t>
            </a:r>
            <a:r>
              <a:rPr lang="en-ID" dirty="0" err="1"/>
              <a:t>aktifkan</a:t>
            </a:r>
            <a:r>
              <a:rPr lang="en-ID" dirty="0"/>
              <a:t> MFA, dan </a:t>
            </a:r>
            <a:r>
              <a:rPr lang="en-ID" dirty="0" err="1"/>
              <a:t>blokir</a:t>
            </a:r>
            <a:r>
              <a:rPr lang="en-ID" dirty="0"/>
              <a:t> </a:t>
            </a:r>
            <a:r>
              <a:rPr lang="en-ID" dirty="0" err="1"/>
              <a:t>percobaan</a:t>
            </a:r>
            <a:r>
              <a:rPr lang="en-ID" dirty="0"/>
              <a:t> login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sah</a:t>
            </a:r>
            <a:r>
              <a:rPr lang="en-ID" dirty="0"/>
              <a:t>.</a:t>
            </a: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Koordinasi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Hukum/HRD: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Menyampaikan</a:t>
            </a:r>
            <a:r>
              <a:rPr lang="en-ID" dirty="0"/>
              <a:t> </a:t>
            </a:r>
            <a:r>
              <a:rPr lang="en-ID" dirty="0" err="1"/>
              <a:t>insiden</a:t>
            </a:r>
            <a:r>
              <a:rPr lang="en-ID" dirty="0"/>
              <a:t> </a:t>
            </a:r>
            <a:r>
              <a:rPr lang="en-ID" dirty="0" err="1"/>
              <a:t>secara</a:t>
            </a:r>
            <a:r>
              <a:rPr lang="en-ID" dirty="0"/>
              <a:t> formal dan </a:t>
            </a:r>
            <a:r>
              <a:rPr lang="en-ID" dirty="0" err="1"/>
              <a:t>memastikan</a:t>
            </a:r>
            <a:r>
              <a:rPr lang="en-ID" dirty="0"/>
              <a:t> </a:t>
            </a:r>
            <a:r>
              <a:rPr lang="en-ID" dirty="0" err="1"/>
              <a:t>kepatuhan</a:t>
            </a:r>
            <a:r>
              <a:rPr lang="en-ID" dirty="0"/>
              <a:t> </a:t>
            </a:r>
            <a:r>
              <a:rPr lang="en-ID" dirty="0" err="1"/>
              <a:t>kebijakan</a:t>
            </a:r>
            <a:r>
              <a:rPr lang="en-ID" dirty="0"/>
              <a:t> </a:t>
            </a:r>
            <a:r>
              <a:rPr lang="en-ID" dirty="0" err="1"/>
              <a:t>perusahaan</a:t>
            </a:r>
            <a:r>
              <a:rPr lang="en-ID" dirty="0"/>
              <a:t>.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0DD75A9-8DBB-31F9-F773-8FA49B805E09}"/>
              </a:ext>
            </a:extLst>
          </p:cNvPr>
          <p:cNvSpPr>
            <a:spLocks noGrp="1"/>
          </p:cNvSpPr>
          <p:nvPr>
            <p:ph type="title" idx="3"/>
          </p:nvPr>
        </p:nvSpPr>
        <p:spPr/>
        <p:txBody>
          <a:bodyPr>
            <a:normAutofit fontScale="90000"/>
          </a:bodyPr>
          <a:lstStyle/>
          <a:p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B. Email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Phising</a:t>
            </a:r>
            <a:b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ADA8172-A8AE-8423-2837-69D43C253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3550" y="0"/>
            <a:ext cx="3899282" cy="507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058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D8A8FF6E-6696-6A5E-87D2-BD380692CE55}"/>
              </a:ext>
            </a:extLst>
          </p:cNvPr>
          <p:cNvPicPr>
            <a:picLocks noGrp="1" noChangeAspect="1"/>
          </p:cNvPicPr>
          <p:nvPr>
            <p:ph type="pic" idx="2"/>
          </p:nvPr>
        </p:nvPicPr>
        <p:blipFill>
          <a:blip r:embed="rId2"/>
          <a:srcRect l="16859" r="16859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3E745B14-C79E-88B3-938B-F54844719D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615161"/>
            <a:ext cx="2808000" cy="755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8620FFE9-E312-695B-D882-8BC6D1A1C83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pPr marL="342900" lvl="0" algn="just"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Lanjutan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ID" dirty="0" err="1"/>
              <a:t>Penyerang</a:t>
            </a:r>
            <a:r>
              <a:rPr lang="en-ID" dirty="0"/>
              <a:t> </a:t>
            </a:r>
            <a:r>
              <a:rPr lang="en-ID" dirty="0" err="1"/>
              <a:t>mengeksploitasi</a:t>
            </a:r>
            <a:r>
              <a:rPr lang="en-ID" dirty="0"/>
              <a:t> </a:t>
            </a:r>
            <a:r>
              <a:rPr lang="en-ID" dirty="0" err="1"/>
              <a:t>kelemahan</a:t>
            </a:r>
            <a:r>
              <a:rPr lang="en-ID" dirty="0"/>
              <a:t> SQL Injection pada </a:t>
            </a:r>
            <a:r>
              <a:rPr lang="en-ID" dirty="0" err="1"/>
              <a:t>aplikasi</a:t>
            </a:r>
            <a:r>
              <a:rPr lang="en-ID" dirty="0"/>
              <a:t> web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mengeksekusi</a:t>
            </a:r>
            <a:r>
              <a:rPr lang="en-ID" dirty="0"/>
              <a:t> </a:t>
            </a:r>
            <a:r>
              <a:rPr lang="en-ID" dirty="0" err="1"/>
              <a:t>kueri</a:t>
            </a:r>
            <a:r>
              <a:rPr lang="en-ID" dirty="0"/>
              <a:t> </a:t>
            </a:r>
            <a:r>
              <a:rPr lang="en-ID" dirty="0" err="1"/>
              <a:t>berbahaya</a:t>
            </a:r>
            <a:r>
              <a:rPr lang="en-ID" dirty="0"/>
              <a:t>, </a:t>
            </a:r>
            <a:r>
              <a:rPr lang="en-ID" dirty="0" err="1"/>
              <a:t>memperoleh</a:t>
            </a:r>
            <a:r>
              <a:rPr lang="en-ID" dirty="0"/>
              <a:t> </a:t>
            </a:r>
            <a:r>
              <a:rPr lang="en-ID" dirty="0" err="1"/>
              <a:t>akses</a:t>
            </a:r>
            <a:r>
              <a:rPr lang="en-ID" dirty="0"/>
              <a:t> </a:t>
            </a:r>
            <a:r>
              <a:rPr lang="en-ID" dirty="0" err="1"/>
              <a:t>tidak</a:t>
            </a:r>
            <a:r>
              <a:rPr lang="en-ID" dirty="0"/>
              <a:t> </a:t>
            </a:r>
            <a:r>
              <a:rPr lang="en-ID" dirty="0" err="1"/>
              <a:t>sah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database, dan </a:t>
            </a:r>
            <a:r>
              <a:rPr lang="en-ID" dirty="0" err="1"/>
              <a:t>mengekstraksi</a:t>
            </a:r>
            <a:r>
              <a:rPr lang="en-ID" dirty="0"/>
              <a:t> data </a:t>
            </a:r>
            <a:r>
              <a:rPr lang="en-ID" dirty="0" err="1"/>
              <a:t>sensitif</a:t>
            </a:r>
            <a:r>
              <a:rPr lang="en-ID" dirty="0"/>
              <a:t>.</a:t>
            </a:r>
          </a:p>
          <a:p>
            <a:pPr marL="342900" lvl="0" algn="just"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Fokus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Respons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</a:rPr>
              <a:t>Lanjutan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Digital </a:t>
            </a: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Mendalam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Meninjau</a:t>
            </a:r>
            <a:r>
              <a:rPr lang="en-ID" dirty="0"/>
              <a:t> log </a:t>
            </a:r>
            <a:r>
              <a:rPr lang="en-ID" dirty="0" err="1"/>
              <a:t>aplikasi</a:t>
            </a:r>
            <a:r>
              <a:rPr lang="en-ID" dirty="0"/>
              <a:t> dan query database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mengidentifikasi</a:t>
            </a:r>
            <a:r>
              <a:rPr lang="en-ID" dirty="0"/>
              <a:t> payload SQLi, </a:t>
            </a:r>
            <a:r>
              <a:rPr lang="en-ID" dirty="0" err="1"/>
              <a:t>tabel</a:t>
            </a:r>
            <a:r>
              <a:rPr lang="en-ID" dirty="0"/>
              <a:t> yang </a:t>
            </a:r>
            <a:r>
              <a:rPr lang="en-ID" dirty="0" err="1"/>
              <a:t>diakses</a:t>
            </a:r>
            <a:r>
              <a:rPr lang="en-ID" dirty="0"/>
              <a:t>, </a:t>
            </a:r>
            <a:r>
              <a:rPr lang="en-ID" dirty="0" err="1"/>
              <a:t>serta</a:t>
            </a:r>
            <a:r>
              <a:rPr lang="en-ID" dirty="0"/>
              <a:t> data yang </a:t>
            </a:r>
            <a:r>
              <a:rPr lang="en-ID" dirty="0" err="1"/>
              <a:t>diekstraksi</a:t>
            </a:r>
            <a:r>
              <a:rPr lang="en-ID" dirty="0"/>
              <a:t>.</a:t>
            </a: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Pengamanan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Akses: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RMenutup</a:t>
            </a:r>
            <a:r>
              <a:rPr lang="en-ID" dirty="0"/>
              <a:t> </a:t>
            </a:r>
            <a:r>
              <a:rPr lang="en-ID" dirty="0" err="1"/>
              <a:t>celah</a:t>
            </a:r>
            <a:r>
              <a:rPr lang="en-ID" dirty="0"/>
              <a:t> SQLi, </a:t>
            </a:r>
            <a:r>
              <a:rPr lang="en-ID" dirty="0" err="1"/>
              <a:t>menerapkan</a:t>
            </a:r>
            <a:r>
              <a:rPr lang="en-ID" dirty="0"/>
              <a:t> parameterized query, </a:t>
            </a:r>
            <a:r>
              <a:rPr lang="en-ID" dirty="0" err="1"/>
              <a:t>memperbaiki</a:t>
            </a:r>
            <a:r>
              <a:rPr lang="en-ID" dirty="0"/>
              <a:t> </a:t>
            </a:r>
            <a:r>
              <a:rPr lang="en-ID" dirty="0" err="1"/>
              <a:t>validasi</a:t>
            </a:r>
            <a:r>
              <a:rPr lang="en-ID" dirty="0"/>
              <a:t> input, dan </a:t>
            </a:r>
            <a:r>
              <a:rPr lang="en-ID" dirty="0" err="1"/>
              <a:t>melakukan</a:t>
            </a:r>
            <a:r>
              <a:rPr lang="en-ID" dirty="0"/>
              <a:t> patch </a:t>
            </a:r>
            <a:r>
              <a:rPr lang="en-ID" dirty="0" err="1"/>
              <a:t>segera</a:t>
            </a:r>
            <a:r>
              <a:rPr lang="en-ID" dirty="0"/>
              <a:t> pada </a:t>
            </a:r>
            <a:r>
              <a:rPr lang="en-ID" dirty="0" err="1"/>
              <a:t>komponen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.</a:t>
            </a:r>
          </a:p>
          <a:p>
            <a:pPr marL="742950" lvl="1" indent="-285750" algn="just"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 err="1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Koordinasi</a:t>
            </a:r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Hukum/HRD:</a:t>
            </a:r>
            <a:r>
              <a:rPr lang="en-US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D" dirty="0" err="1"/>
              <a:t>Mengubah</a:t>
            </a:r>
            <a:r>
              <a:rPr lang="en-ID" dirty="0"/>
              <a:t> </a:t>
            </a:r>
            <a:r>
              <a:rPr lang="en-ID" dirty="0" err="1"/>
              <a:t>kredensial</a:t>
            </a:r>
            <a:r>
              <a:rPr lang="en-ID" dirty="0"/>
              <a:t> database yang </a:t>
            </a:r>
            <a:r>
              <a:rPr lang="en-ID" dirty="0" err="1"/>
              <a:t>terdampak</a:t>
            </a:r>
            <a:r>
              <a:rPr lang="en-ID" dirty="0"/>
              <a:t> dan </a:t>
            </a:r>
            <a:r>
              <a:rPr lang="en-ID" dirty="0" err="1"/>
              <a:t>membatasi</a:t>
            </a:r>
            <a:r>
              <a:rPr lang="en-ID" dirty="0"/>
              <a:t> privilege </a:t>
            </a:r>
            <a:r>
              <a:rPr lang="en-ID" dirty="0" err="1"/>
              <a:t>akun</a:t>
            </a:r>
            <a:r>
              <a:rPr lang="en-ID" dirty="0"/>
              <a:t> </a:t>
            </a:r>
            <a:r>
              <a:rPr lang="en-ID" dirty="0" err="1"/>
              <a:t>aplikasi</a:t>
            </a:r>
            <a:r>
              <a:rPr lang="en-ID" dirty="0"/>
              <a:t> agar </a:t>
            </a:r>
            <a:r>
              <a:rPr lang="en-ID" dirty="0" err="1"/>
              <a:t>hanya</a:t>
            </a:r>
            <a:r>
              <a:rPr lang="en-ID" dirty="0"/>
              <a:t> </a:t>
            </a:r>
            <a:r>
              <a:rPr lang="en-ID" dirty="0" err="1"/>
              <a:t>dapat</a:t>
            </a:r>
            <a:r>
              <a:rPr lang="en-ID" dirty="0"/>
              <a:t> </a:t>
            </a:r>
            <a:r>
              <a:rPr lang="en-ID" dirty="0" err="1"/>
              <a:t>mengakses</a:t>
            </a:r>
            <a:r>
              <a:rPr lang="en-ID" dirty="0"/>
              <a:t> resource minimal.</a:t>
            </a:r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BC32371-1738-72F6-79C7-C10B0A1E7A43}"/>
              </a:ext>
            </a:extLst>
          </p:cNvPr>
          <p:cNvSpPr>
            <a:spLocks noGrp="1"/>
          </p:cNvSpPr>
          <p:nvPr>
            <p:ph type="title" idx="3"/>
          </p:nvPr>
        </p:nvSpPr>
        <p:spPr>
          <a:xfrm>
            <a:off x="391575" y="673975"/>
            <a:ext cx="2648250" cy="489621"/>
          </a:xfrm>
        </p:spPr>
        <p:txBody>
          <a:bodyPr>
            <a:noAutofit/>
          </a:bodyPr>
          <a:lstStyle/>
          <a:p>
            <a:r>
              <a:rPr lang="en-US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C. SQL Injection (SQLi)</a:t>
            </a:r>
            <a:br>
              <a:rPr lang="en-US" sz="1800" b="1" dirty="0"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en-US" sz="1800" dirty="0"/>
            </a:br>
            <a:endParaRPr lang="en-US" sz="18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5265865-21CA-E42F-82CF-AE605E7D0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3550" y="7250"/>
            <a:ext cx="4962698" cy="50605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1533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471449" y="270385"/>
            <a:ext cx="7758874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6" name="Google Shape;136;p18"/>
          <p:cNvSpPr txBox="1">
            <a:spLocks noGrp="1"/>
          </p:cNvSpPr>
          <p:nvPr>
            <p:ph type="subTitle" idx="1"/>
          </p:nvPr>
        </p:nvSpPr>
        <p:spPr>
          <a:xfrm>
            <a:off x="471449" y="1049939"/>
            <a:ext cx="8243181" cy="36327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just">
              <a:spcBef>
                <a:spcPts val="0"/>
              </a:spcBef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 High Availability (HA)</a:t>
            </a:r>
            <a:endParaRPr lang="en-US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berfokus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pada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pencegahan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downtime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keberlanjutan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operasional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menghadapi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kegagalan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komponen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minor.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Strategi: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Redundansi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penggandaan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komponen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kritis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Contoh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Implementasi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Load Balancing: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Mendistribusikan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traffic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beberapa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server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aplikasi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aktif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Failover Clustering: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Menggunakan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kluster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database (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misalnya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Always On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SQL Server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atau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replikasi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di </a:t>
            </a:r>
            <a:r>
              <a:rPr lang="en-US" sz="1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DB)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sehingga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jika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satu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node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gagal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node lain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mengambil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alih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B. Disaster Recovery Plan (DRP)</a:t>
            </a:r>
            <a:endParaRPr lang="en-US" sz="10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DRP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berfokus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pada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pemulihan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setelah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bencana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kegagalan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sistem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besar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termasuk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siber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parah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seperti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ransomware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skala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besar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Strategi: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Pemulihan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sistem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data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lokasi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sekunder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(DR Site).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Metrik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Kunci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RTO (Recovery Time Objective):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Waktu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maksimum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diizinkan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untuk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mengembalikan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layanan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bisnis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setelah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bencana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RPO (Recovery Point Objective):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Jumlah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kehilangan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data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maksimum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dapat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diterima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ditentukan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oleh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seberapa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sering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backup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dilakukan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Langkah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Kritis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DRP: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Mengisolasi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sistem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terinfeksi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mengembalikan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layanan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menggunakan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Golden Image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citra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sistem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bersih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teruji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0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0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DR Site</a:t>
            </a:r>
            <a:r>
              <a:rPr lang="en-US" sz="10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endParaRPr lang="en-US" sz="1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7" name="Google Shape;137;p18"/>
          <p:cNvSpPr txBox="1">
            <a:spLocks noGrp="1"/>
          </p:cNvSpPr>
          <p:nvPr>
            <p:ph type="title" idx="3"/>
          </p:nvPr>
        </p:nvSpPr>
        <p:spPr>
          <a:xfrm>
            <a:off x="780750" y="405460"/>
            <a:ext cx="7368537" cy="539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Diagram Strategi High Availability (HA) dan Disaster Recovery Plan (DRP)</a:t>
            </a:r>
            <a:r>
              <a:rPr lang="en-US" sz="1200" dirty="0">
                <a:effectLst/>
              </a:rPr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51918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>
            <a:spLocks noGrp="1"/>
          </p:cNvSpPr>
          <p:nvPr>
            <p:ph type="title"/>
          </p:nvPr>
        </p:nvSpPr>
        <p:spPr>
          <a:xfrm>
            <a:off x="311700" y="115329"/>
            <a:ext cx="5621267" cy="42673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>
              <a:spcBef>
                <a:spcPts val="0"/>
              </a:spcBef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Refleksi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Profesional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Pembelajaran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644270D-56A8-804C-A8DD-1C3D574C19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6543143"/>
              </p:ext>
            </p:extLst>
          </p:nvPr>
        </p:nvGraphicFramePr>
        <p:xfrm>
          <a:off x="349224" y="1374310"/>
          <a:ext cx="8521701" cy="33680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89150">
                  <a:extLst>
                    <a:ext uri="{9D8B030D-6E8A-4147-A177-3AD203B41FA5}">
                      <a16:colId xmlns:a16="http://schemas.microsoft.com/office/drawing/2014/main" val="400666102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226940955"/>
                    </a:ext>
                  </a:extLst>
                </a:gridCol>
                <a:gridCol w="3384551">
                  <a:extLst>
                    <a:ext uri="{9D8B030D-6E8A-4147-A177-3AD203B41FA5}">
                      <a16:colId xmlns:a16="http://schemas.microsoft.com/office/drawing/2014/main" val="3229834650"/>
                    </a:ext>
                  </a:extLst>
                </a:gridCol>
              </a:tblGrid>
              <a:tr h="20193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Tantangan</a:t>
                      </a:r>
                      <a:r>
                        <a:rPr lang="en-US" sz="1200" dirty="0">
                          <a:effectLst/>
                        </a:rPr>
                        <a:t> Teknis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Deskripsi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Masalah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</a:rPr>
                        <a:t>Cara </a:t>
                      </a:r>
                      <a:r>
                        <a:rPr lang="en-US" sz="1200" dirty="0" err="1">
                          <a:effectLst/>
                        </a:rPr>
                        <a:t>Mengatasi</a:t>
                      </a:r>
                      <a:r>
                        <a:rPr lang="en-US" sz="1200" dirty="0">
                          <a:effectLst/>
                        </a:rPr>
                        <a:t> (Solusi)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19244936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Keterbatasan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Visibilitas</a:t>
                      </a:r>
                      <a:r>
                        <a:rPr lang="en-US" sz="1200" dirty="0">
                          <a:effectLst/>
                        </a:rPr>
                        <a:t> Log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Log on-premise dan cloud berada di sistem yang berbeda, menyebabkan keterlambatan dalam korelasi peristiwa (misalnya, melacak perpindahan penyerang dari endpoint lokal ke Cloud API).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Menggunakan</a:t>
                      </a:r>
                      <a:r>
                        <a:rPr lang="en-US" sz="1200" dirty="0">
                          <a:effectLst/>
                        </a:rPr>
                        <a:t> SIEM (Security Information and Event Management)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mengintegrasikan</a:t>
                      </a:r>
                      <a:r>
                        <a:rPr lang="en-US" sz="1200" dirty="0">
                          <a:effectLst/>
                        </a:rPr>
                        <a:t> dan </a:t>
                      </a:r>
                      <a:r>
                        <a:rPr lang="en-US" sz="1200" dirty="0" err="1">
                          <a:effectLst/>
                        </a:rPr>
                        <a:t>menormalisasi</a:t>
                      </a:r>
                      <a:r>
                        <a:rPr lang="en-US" sz="1200" dirty="0">
                          <a:effectLst/>
                        </a:rPr>
                        <a:t> log </a:t>
                      </a:r>
                      <a:r>
                        <a:rPr lang="en-US" sz="1200" dirty="0" err="1">
                          <a:effectLst/>
                        </a:rPr>
                        <a:t>dari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kedua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lingkungan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menciptakan</a:t>
                      </a:r>
                      <a:r>
                        <a:rPr lang="en-US" sz="1200" dirty="0">
                          <a:effectLst/>
                        </a:rPr>
                        <a:t> timeline </a:t>
                      </a:r>
                      <a:r>
                        <a:rPr lang="en-US" sz="1200" dirty="0" err="1">
                          <a:effectLst/>
                        </a:rPr>
                        <a:t>insiden</a:t>
                      </a:r>
                      <a:r>
                        <a:rPr lang="en-US" sz="1200" dirty="0">
                          <a:effectLst/>
                        </a:rPr>
                        <a:t> yang </a:t>
                      </a:r>
                      <a:r>
                        <a:rPr lang="en-US" sz="1200" dirty="0" err="1">
                          <a:effectLst/>
                        </a:rPr>
                        <a:t>terpusat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43555947"/>
                  </a:ext>
                </a:extLst>
              </a:tr>
              <a:tr h="111633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effectLst/>
                        </a:rPr>
                        <a:t>Isu Rollback Konfigurasi Cepat</a:t>
                      </a:r>
                      <a:endParaRPr lang="en-US" sz="12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Pemulihan</a:t>
                      </a:r>
                      <a:r>
                        <a:rPr lang="en-US" sz="1200" dirty="0">
                          <a:effectLst/>
                        </a:rPr>
                        <a:t> (Recovery) </a:t>
                      </a:r>
                      <a:r>
                        <a:rPr lang="en-US" sz="1200" dirty="0" err="1">
                          <a:effectLst/>
                        </a:rPr>
                        <a:t>melibatkan</a:t>
                      </a:r>
                      <a:r>
                        <a:rPr lang="en-US" sz="1200" dirty="0">
                          <a:effectLst/>
                        </a:rPr>
                        <a:t> rollback </a:t>
                      </a:r>
                      <a:r>
                        <a:rPr lang="en-US" sz="1200" dirty="0" err="1">
                          <a:effectLst/>
                        </a:rPr>
                        <a:t>konfigurasi</a:t>
                      </a:r>
                      <a:r>
                        <a:rPr lang="en-US" sz="1200" dirty="0">
                          <a:effectLst/>
                        </a:rPr>
                        <a:t> cloud (</a:t>
                      </a:r>
                      <a:r>
                        <a:rPr lang="en-US" sz="1200" dirty="0" err="1">
                          <a:effectLst/>
                        </a:rPr>
                        <a:t>misalnya</a:t>
                      </a:r>
                      <a:r>
                        <a:rPr lang="en-US" sz="1200" dirty="0">
                          <a:effectLst/>
                        </a:rPr>
                        <a:t>, IAM Policy yang </a:t>
                      </a:r>
                      <a:r>
                        <a:rPr lang="en-US" sz="1200" dirty="0" err="1">
                          <a:effectLst/>
                        </a:rPr>
                        <a:t>diubah</a:t>
                      </a:r>
                      <a:r>
                        <a:rPr lang="en-US" sz="1200" dirty="0">
                          <a:effectLst/>
                        </a:rPr>
                        <a:t>), yang </a:t>
                      </a:r>
                      <a:r>
                        <a:rPr lang="en-US" sz="1200" dirty="0" err="1">
                          <a:effectLst/>
                        </a:rPr>
                        <a:t>rentan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terhadap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kesalahan</a:t>
                      </a:r>
                      <a:r>
                        <a:rPr lang="en-US" sz="1200" dirty="0">
                          <a:effectLst/>
                        </a:rPr>
                        <a:t> manual.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Mengimplementasikan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prosedur</a:t>
                      </a:r>
                      <a:r>
                        <a:rPr lang="en-US" sz="1200" dirty="0">
                          <a:effectLst/>
                        </a:rPr>
                        <a:t> Infrastructure as Code (</a:t>
                      </a:r>
                      <a:r>
                        <a:rPr lang="en-US" sz="1200" dirty="0" err="1">
                          <a:effectLst/>
                        </a:rPr>
                        <a:t>IaC</a:t>
                      </a:r>
                      <a:r>
                        <a:rPr lang="en-US" sz="1200" dirty="0">
                          <a:effectLst/>
                        </a:rPr>
                        <a:t>) (</a:t>
                      </a:r>
                      <a:r>
                        <a:rPr lang="en-US" sz="1200" dirty="0" err="1">
                          <a:effectLst/>
                        </a:rPr>
                        <a:t>misalnya</a:t>
                      </a:r>
                      <a:r>
                        <a:rPr lang="en-US" sz="1200" dirty="0">
                          <a:effectLst/>
                        </a:rPr>
                        <a:t>, </a:t>
                      </a:r>
                      <a:r>
                        <a:rPr lang="en-US" sz="1200" dirty="0" err="1">
                          <a:effectLst/>
                        </a:rPr>
                        <a:t>menggunakan</a:t>
                      </a:r>
                      <a:r>
                        <a:rPr lang="en-US" sz="1200" dirty="0">
                          <a:effectLst/>
                        </a:rPr>
                        <a:t> Terraform </a:t>
                      </a:r>
                      <a:r>
                        <a:rPr lang="en-US" sz="1200" dirty="0" err="1">
                          <a:effectLst/>
                        </a:rPr>
                        <a:t>atau</a:t>
                      </a:r>
                      <a:r>
                        <a:rPr lang="en-US" sz="1200" dirty="0">
                          <a:effectLst/>
                        </a:rPr>
                        <a:t> CloudFormation)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mengembalikan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konfigurasi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ke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kondisi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aman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terakhir</a:t>
                      </a:r>
                      <a:r>
                        <a:rPr lang="en-US" sz="1200" dirty="0">
                          <a:effectLst/>
                        </a:rPr>
                        <a:t> (last known good state) </a:t>
                      </a:r>
                      <a:r>
                        <a:rPr lang="en-US" sz="1200" dirty="0" err="1">
                          <a:effectLst/>
                        </a:rPr>
                        <a:t>secara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otomatis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82271745"/>
                  </a:ext>
                </a:extLst>
              </a:tr>
              <a:tr h="93345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Pengumpulan</a:t>
                      </a:r>
                      <a:r>
                        <a:rPr lang="en-US" sz="1200" dirty="0">
                          <a:effectLst/>
                        </a:rPr>
                        <a:t> Bukti Volatile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Kesulitan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dalam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mengumpulkan</a:t>
                      </a:r>
                      <a:r>
                        <a:rPr lang="en-US" sz="1200" dirty="0">
                          <a:effectLst/>
                        </a:rPr>
                        <a:t> data volatile (memory dump, </a:t>
                      </a:r>
                      <a:r>
                        <a:rPr lang="en-US" sz="1200" dirty="0" err="1">
                          <a:effectLst/>
                        </a:rPr>
                        <a:t>koneksi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aktif</a:t>
                      </a:r>
                      <a:r>
                        <a:rPr lang="en-US" sz="1200" dirty="0">
                          <a:effectLst/>
                        </a:rPr>
                        <a:t>) </a:t>
                      </a:r>
                      <a:r>
                        <a:rPr lang="en-US" sz="1200" dirty="0" err="1">
                          <a:effectLst/>
                        </a:rPr>
                        <a:t>dari</a:t>
                      </a:r>
                      <a:r>
                        <a:rPr lang="en-US" sz="1200" dirty="0">
                          <a:effectLst/>
                        </a:rPr>
                        <a:t> endpoint yang </a:t>
                      </a:r>
                      <a:r>
                        <a:rPr lang="en-US" sz="1200" dirty="0" err="1">
                          <a:effectLst/>
                        </a:rPr>
                        <a:t>terinfeksi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secara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cepat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sebelum</a:t>
                      </a:r>
                      <a:r>
                        <a:rPr lang="en-US" sz="1200" dirty="0">
                          <a:effectLst/>
                        </a:rPr>
                        <a:t> containment.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</a:rPr>
                        <a:t>Menggunakan</a:t>
                      </a:r>
                      <a:r>
                        <a:rPr lang="en-US" sz="1200" dirty="0">
                          <a:effectLst/>
                        </a:rPr>
                        <a:t> EDR (Endpoint Detection and Response) yang </a:t>
                      </a:r>
                      <a:r>
                        <a:rPr lang="en-US" sz="1200" dirty="0" err="1">
                          <a:effectLst/>
                        </a:rPr>
                        <a:t>terintegrasi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untuk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eksekusi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perintah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jarak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jauh</a:t>
                      </a:r>
                      <a:r>
                        <a:rPr lang="en-US" sz="1200" dirty="0">
                          <a:effectLst/>
                        </a:rPr>
                        <a:t> (remote commands) dan </a:t>
                      </a:r>
                      <a:r>
                        <a:rPr lang="en-US" sz="1200" dirty="0" err="1">
                          <a:effectLst/>
                        </a:rPr>
                        <a:t>otomatisasi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pengambilan</a:t>
                      </a:r>
                      <a:r>
                        <a:rPr lang="en-US" sz="1200" dirty="0">
                          <a:effectLst/>
                        </a:rPr>
                        <a:t> data volatile </a:t>
                      </a:r>
                      <a:r>
                        <a:rPr lang="en-US" sz="1200" dirty="0" err="1">
                          <a:effectLst/>
                        </a:rPr>
                        <a:t>segera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setelah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deteksi</a:t>
                      </a:r>
                      <a:r>
                        <a:rPr lang="en-US" sz="1200" dirty="0">
                          <a:effectLst/>
                        </a:rPr>
                        <a:t> </a:t>
                      </a:r>
                      <a:r>
                        <a:rPr lang="en-US" sz="1200" dirty="0" err="1">
                          <a:effectLst/>
                        </a:rPr>
                        <a:t>awal</a:t>
                      </a:r>
                      <a:r>
                        <a:rPr lang="en-US" sz="1200" dirty="0">
                          <a:effectLst/>
                        </a:rPr>
                        <a:t>.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92562867"/>
                  </a:ext>
                </a:extLst>
              </a:tr>
            </a:tbl>
          </a:graphicData>
        </a:graphic>
      </p:graphicFrame>
      <p:sp>
        <p:nvSpPr>
          <p:cNvPr id="5" name="Google Shape;143;p19">
            <a:extLst>
              <a:ext uri="{FF2B5EF4-FFF2-40B4-BE49-F238E27FC236}">
                <a16:creationId xmlns:a16="http://schemas.microsoft.com/office/drawing/2014/main" id="{437638EF-755C-274A-B423-29BAA66F20F4}"/>
              </a:ext>
            </a:extLst>
          </p:cNvPr>
          <p:cNvSpPr txBox="1">
            <a:spLocks/>
          </p:cNvSpPr>
          <p:nvPr/>
        </p:nvSpPr>
        <p:spPr>
          <a:xfrm>
            <a:off x="910208" y="671835"/>
            <a:ext cx="6862192" cy="5144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pPr marL="0" marR="0" algn="ctr">
              <a:lnSpc>
                <a:spcPct val="150000"/>
              </a:lnSpc>
              <a:spcBef>
                <a:spcPts val="0"/>
              </a:spcBef>
            </a:pP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Tantangan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Teknis yang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Dihadapi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Cara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Mengatasinya</a:t>
            </a:r>
            <a:endParaRPr lang="en-US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>
            <a:spLocks noGrp="1"/>
          </p:cNvSpPr>
          <p:nvPr>
            <p:ph type="subTitle" idx="1"/>
          </p:nvPr>
        </p:nvSpPr>
        <p:spPr>
          <a:xfrm>
            <a:off x="547625" y="1546625"/>
            <a:ext cx="8124900" cy="33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marR="0" algn="just">
              <a:spcBef>
                <a:spcPts val="0"/>
              </a:spcBef>
            </a:pP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Simulasi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menekankan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pentingnya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respons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terstruktur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hanya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firefighting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pemadaman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darurat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Disiplin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Prosedural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(Incident Response Playbook):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Tim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berhasil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beralih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penanganan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bersifat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ad-hoc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menjadi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mengikuti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Incident Response Playbook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jelas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Hal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sangat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terlihat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fase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Containment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di mana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menahan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diri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tidak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langsung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melakukan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Eradication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sebelum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Bukti Digital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diamankan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Triage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Terpadu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Pengalaman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mengajarkan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melakukan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triage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berdasarkan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dampak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bisnis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kritisnya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aset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misalnya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 identity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dianggap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critical priority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hanya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berdasarkan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volume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alert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Kolaborasi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Lintas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Fungsi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Peningkatan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pemahaman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tentang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perlunya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melibatkan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fungsi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non-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teknis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Legal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HR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pada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Insider Threat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sejak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awal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memastikan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aspek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hukum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prosedural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ditangani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seiring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aspek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teknis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5" name="Google Shape;143;p19">
            <a:extLst>
              <a:ext uri="{FF2B5EF4-FFF2-40B4-BE49-F238E27FC236}">
                <a16:creationId xmlns:a16="http://schemas.microsoft.com/office/drawing/2014/main" id="{437638EF-755C-274A-B423-29BAA66F20F4}"/>
              </a:ext>
            </a:extLst>
          </p:cNvPr>
          <p:cNvSpPr txBox="1">
            <a:spLocks/>
          </p:cNvSpPr>
          <p:nvPr/>
        </p:nvSpPr>
        <p:spPr>
          <a:xfrm>
            <a:off x="633223" y="638260"/>
            <a:ext cx="7830293" cy="572700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2800"/>
              <a:buFont typeface="DM Sans Black"/>
              <a:buNone/>
              <a:defRPr sz="2800" b="0" i="0" u="none" strike="noStrike" cap="none">
                <a:solidFill>
                  <a:srgbClr val="212121"/>
                </a:solidFill>
                <a:latin typeface="DM Sans Black"/>
                <a:ea typeface="DM Sans Black"/>
                <a:cs typeface="DM Sans Black"/>
                <a:sym typeface="DM Sans Black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Pengalaman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Tim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Menangani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secara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Terstruktur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ctr">
              <a:spcBef>
                <a:spcPts val="0"/>
              </a:spcBef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16628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1976400" y="723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Evaluasi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Kepatuhan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Standar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Industri</a:t>
            </a:r>
            <a:r>
              <a:rPr lang="en-US" b="1" dirty="0">
                <a:effectLst/>
              </a:rPr>
              <a:t> </a:t>
            </a:r>
            <a:endParaRPr b="1" dirty="0"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1"/>
          </p:nvPr>
        </p:nvSpPr>
        <p:spPr>
          <a:xfrm>
            <a:off x="509550" y="1502769"/>
            <a:ext cx="8124900" cy="88955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marR="0">
              <a:spcBef>
                <a:spcPts val="0"/>
              </a:spcBef>
            </a:pP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Kesesuaian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Proyek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dengan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Standar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Utama</a:t>
            </a:r>
            <a:endParaRPr lang="en-US" sz="14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Proyek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yang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mempraktikkan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proses yang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terstruktur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menghasilkan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dokumentasi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ketat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sangat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sesuai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dengan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prinsip-prinsip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standar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industri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terkemuka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C952CA41-543A-0049-8451-7B4CEC9FC8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791889"/>
              </p:ext>
            </p:extLst>
          </p:nvPr>
        </p:nvGraphicFramePr>
        <p:xfrm>
          <a:off x="770245" y="2599095"/>
          <a:ext cx="7603510" cy="1742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755">
                  <a:extLst>
                    <a:ext uri="{9D8B030D-6E8A-4147-A177-3AD203B41FA5}">
                      <a16:colId xmlns:a16="http://schemas.microsoft.com/office/drawing/2014/main" val="298637248"/>
                    </a:ext>
                  </a:extLst>
                </a:gridCol>
                <a:gridCol w="3801755">
                  <a:extLst>
                    <a:ext uri="{9D8B030D-6E8A-4147-A177-3AD203B41FA5}">
                      <a16:colId xmlns:a16="http://schemas.microsoft.com/office/drawing/2014/main" val="31751196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Standar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Industri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Aspek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Kepatuhan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Proyek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60519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NIST SP 800-61 Rev. 2 (Computer Security Incident Handling Guide)</a:t>
                      </a:r>
                      <a:r>
                        <a:rPr lang="en-US" b="0" dirty="0">
                          <a:effectLst/>
                        </a:rPr>
                        <a:t> 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Proyek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secara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langsung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menerapkan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empat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fase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siklus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hidup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insiden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Persiapan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Deteksi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&amp;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Analisis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Pembendungan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&amp;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Pemulihan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Pasca-Insiden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).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Simulasi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triage, containment, dan </a:t>
                      </a:r>
                      <a:r>
                        <a:rPr lang="en-US" sz="1400" b="1" i="1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lessons learned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adalah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inti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dari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kepatuhan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64371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83BD8D18-38D1-7D43-830E-95217C654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0037867"/>
              </p:ext>
            </p:extLst>
          </p:nvPr>
        </p:nvGraphicFramePr>
        <p:xfrm>
          <a:off x="555811" y="819216"/>
          <a:ext cx="8032378" cy="370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1388">
                  <a:extLst>
                    <a:ext uri="{9D8B030D-6E8A-4147-A177-3AD203B41FA5}">
                      <a16:colId xmlns:a16="http://schemas.microsoft.com/office/drawing/2014/main" val="3483621970"/>
                    </a:ext>
                  </a:extLst>
                </a:gridCol>
                <a:gridCol w="4320990">
                  <a:extLst>
                    <a:ext uri="{9D8B030D-6E8A-4147-A177-3AD203B41FA5}">
                      <a16:colId xmlns:a16="http://schemas.microsoft.com/office/drawing/2014/main" val="3057079496"/>
                    </a:ext>
                  </a:extLst>
                </a:gridCol>
              </a:tblGrid>
              <a:tr h="623957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Standar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Industri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</a:pP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Aspek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Kepatuhan</a:t>
                      </a:r>
                      <a:r>
                        <a:rPr lang="en-US" sz="1400" b="1" i="0" u="none" strike="noStrike" cap="none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Proyek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8307213"/>
                  </a:ext>
                </a:extLst>
              </a:tr>
              <a:tr h="1055479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NIST Cybersecurity Framework (CSF)</a:t>
                      </a:r>
                      <a:r>
                        <a:rPr lang="en-US" b="0" dirty="0">
                          <a:effectLst/>
                        </a:rPr>
                        <a:t> 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Selaras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dengan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fungsi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RESPOND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misalnya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Analysis, Mitigation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 dan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RECOVER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misalnya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Recovery Planning, Improvements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).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Simulasi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DRP dan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evaluasi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arsitektur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memenuhi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fungsi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Recover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8035441"/>
                  </a:ext>
                </a:extLst>
              </a:tr>
              <a:tr h="1272762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ISO/IEC 27001 (A.16.1.7 - Incident Management)</a:t>
                      </a:r>
                      <a:r>
                        <a:rPr lang="en-US" b="0" dirty="0">
                          <a:effectLst/>
                        </a:rPr>
                        <a:t> 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Memenuhi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persyaratan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untuk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mendokumentasikan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insiden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mengumpulkan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bukti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, dan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melakukan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tinjauan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pasca-insiden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(</a:t>
                      </a:r>
                      <a:r>
                        <a:rPr lang="en-US" sz="1400" b="0" i="1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post-mortem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),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sebagaimana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diwajibkan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oleh 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Log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Respons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dan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Laporan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1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Evaluasi</a:t>
                      </a:r>
                      <a:r>
                        <a:rPr lang="en-US" sz="1400" b="1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Akhir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yang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dihasilkan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 </a:t>
                      </a:r>
                      <a:r>
                        <a:rPr lang="en-US" sz="1400" b="0" i="0" u="none" strike="noStrike" cap="none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proyek</a:t>
                      </a:r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.</a:t>
                      </a:r>
                      <a:r>
                        <a:rPr lang="en-US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5708188"/>
                  </a:ext>
                </a:extLst>
              </a:tr>
              <a:tr h="623957">
                <a:tc>
                  <a:txBody>
                    <a:bodyPr/>
                    <a:lstStyle/>
                    <a:p>
                      <a:r>
                        <a:rPr lang="en-US" sz="14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  <a:sym typeface="Arial"/>
                        </a:rPr>
                        <a:t>ISO/IEC 27035 (Information Security Incident Management)</a:t>
                      </a:r>
                      <a:r>
                        <a:rPr lang="en-US" b="0" dirty="0">
                          <a:effectLst/>
                        </a:rPr>
                        <a:t> 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Proyek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mempraktikkan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manajemen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dengan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fokus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pada </a:t>
                      </a: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pemantauan</a:t>
                      </a: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deteksi</a:t>
                      </a: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pelaporan</a:t>
                      </a:r>
                      <a:r>
                        <a:rPr lang="en-US" sz="12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dan </a:t>
                      </a:r>
                      <a:r>
                        <a:rPr lang="en-US" sz="1200" b="1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respons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yang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merupakan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elemen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penting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dari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standar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manajemen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insiden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200" dirty="0" err="1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ini</a:t>
                      </a:r>
                      <a:r>
                        <a:rPr lang="en-US" sz="12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99049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27515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769786" y="645267"/>
            <a:ext cx="7680628" cy="5727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REKOMENDASI STRATEGIS</a:t>
            </a:r>
            <a:endParaRPr b="1" dirty="0"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1"/>
          </p:nvPr>
        </p:nvSpPr>
        <p:spPr>
          <a:xfrm>
            <a:off x="547650" y="1533025"/>
            <a:ext cx="8124900" cy="33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marR="0" algn="just">
              <a:spcBef>
                <a:spcPts val="0"/>
              </a:spcBef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1. Ide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Peningkatan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(Alerting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Otomatis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SIEM, SOC)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Peningkatan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harus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berfokus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pada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transisi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manajemen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reaktif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menjadi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proaktif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terpusat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</a:p>
          <a:p>
            <a:pPr marL="0" marR="0" algn="just">
              <a:spcBef>
                <a:spcPts val="0"/>
              </a:spcBef>
            </a:pP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 algn="just">
              <a:spcBef>
                <a:spcPts val="0"/>
              </a:spcBef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Peningkatan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Sentralisasi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Integrasi SIEM dan Log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Integrasi Log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Komprehensif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Memastikan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semua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log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penting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terutama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 API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seperti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AWS CloudTrail, Azure Activity Log),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identitas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seperti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Azure AD/Okta), dan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di-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ingest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SIEM (Security Information and Event Management)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terpusat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sangat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krusial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mendeteksi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lateral movement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infrastruktur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hybrid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Korelasi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Lintas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Lingkungan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Mengkonfigurasi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aturan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korelasi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SIEM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mendeteksi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pola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mengindikasikan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serangan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multi-stage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misalnya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"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login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mencurigakan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diikuti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oleh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perubahan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policy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IAM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waktu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5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menit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."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1593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0"/>
          <p:cNvSpPr txBox="1">
            <a:spLocks noGrp="1"/>
          </p:cNvSpPr>
          <p:nvPr>
            <p:ph type="title"/>
          </p:nvPr>
        </p:nvSpPr>
        <p:spPr>
          <a:xfrm>
            <a:off x="953422" y="613369"/>
            <a:ext cx="7237155" cy="572700"/>
          </a:xfrm>
          <a:prstGeom prst="rec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algn="ctr">
              <a:lnSpc>
                <a:spcPct val="150000"/>
              </a:lnSpc>
              <a:spcBef>
                <a:spcPts val="0"/>
              </a:spcBef>
            </a:pP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Peningkatan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Otomatisasi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Sistem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Alerting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SOAR</a:t>
            </a: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1"/>
          </p:nvPr>
        </p:nvSpPr>
        <p:spPr>
          <a:xfrm>
            <a:off x="750535" y="1533025"/>
            <a:ext cx="7642927" cy="33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Implementasi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SOAR (Security Orchestration, Automation, and Response):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Mengintegrasikan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SOAR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dengan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SIEM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mengotomatisasi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respons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dasar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Contoh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playbook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SOAR: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Phishing: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memblokir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URL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berbahaya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menghapus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email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semua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kotak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masuk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dan me-</a:t>
            </a:r>
            <a:r>
              <a:rPr lang="en-US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reset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kata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sandi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pengguna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mengklik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 algn="just">
              <a:spcBef>
                <a:spcPts val="0"/>
              </a:spcBef>
              <a:spcAft>
                <a:spcPts val="500"/>
              </a:spcAft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b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Malware: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Secara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otomatis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mengisolasi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endpoint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yang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terinfeksi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dan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memulai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scan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forensik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ringan</a:t>
            </a:r>
            <a:r>
              <a:rPr lang="en-US" dirty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Prioritas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Alerting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Berbasis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Risiko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Menggunakan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fitur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alerting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mengaplikasikan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skoring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risiko</a:t>
            </a:r>
            <a:r>
              <a:rPr lang="en-US" sz="14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dinamis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pada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alert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memastikan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alert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berasal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dari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aset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kritis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misalnya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Production Database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Key Management System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memicu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notifikasi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prioritas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4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tinggi</a:t>
            </a:r>
            <a:r>
              <a:rPr lang="en-US" sz="1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lvl="0" indent="0" algn="just" rtl="0">
              <a:spcBef>
                <a:spcPts val="1200"/>
              </a:spcBef>
              <a:spcAft>
                <a:spcPts val="1200"/>
              </a:spcAft>
              <a:buNone/>
            </a:pPr>
            <a:endParaRPr sz="1400" dirty="0"/>
          </a:p>
        </p:txBody>
      </p:sp>
    </p:spTree>
    <p:extLst>
      <p:ext uri="{BB962C8B-B14F-4D97-AF65-F5344CB8AC3E}">
        <p14:creationId xmlns:p14="http://schemas.microsoft.com/office/powerpoint/2010/main" val="367749828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1"/>
          <p:cNvSpPr txBox="1">
            <a:spLocks noGrp="1"/>
          </p:cNvSpPr>
          <p:nvPr>
            <p:ph type="title"/>
          </p:nvPr>
        </p:nvSpPr>
        <p:spPr>
          <a:xfrm>
            <a:off x="914100" y="877507"/>
            <a:ext cx="7315800" cy="63812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Pembentukan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Security Operations Center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(SOC)</a:t>
            </a:r>
            <a:r>
              <a:rPr lang="en-US" dirty="0">
                <a:effectLst/>
              </a:rPr>
              <a:t> </a:t>
            </a:r>
            <a:endParaRPr dirty="0"/>
          </a:p>
        </p:txBody>
      </p:sp>
      <p:sp>
        <p:nvSpPr>
          <p:cNvPr id="3" name="Google Shape;155;p21">
            <a:extLst>
              <a:ext uri="{FF2B5EF4-FFF2-40B4-BE49-F238E27FC236}">
                <a16:creationId xmlns:a16="http://schemas.microsoft.com/office/drawing/2014/main" id="{6EF71693-99B5-894A-87AF-A9A298EEB242}"/>
              </a:ext>
            </a:extLst>
          </p:cNvPr>
          <p:cNvSpPr txBox="1">
            <a:spLocks/>
          </p:cNvSpPr>
          <p:nvPr/>
        </p:nvSpPr>
        <p:spPr>
          <a:xfrm>
            <a:off x="914100" y="1844794"/>
            <a:ext cx="7315800" cy="1257941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rmAutofit fontScale="850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9pPr>
          </a:lstStyle>
          <a:p>
            <a:pPr marL="342900" marR="0" lvl="0" indent="-342900" algn="just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Model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Managed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SOC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In-House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Jika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sumber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daya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memungkinkan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membentuk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menggunakan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layanan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Managed SOC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pemantauan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keamanan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24/7. Hal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memastikan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terdeteksi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di-</a:t>
            </a:r>
            <a:r>
              <a:rPr lang="en-US" sz="18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triage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secara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instan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sangat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mengurangi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MTTD (Mean Time to Detect)</a:t>
            </a:r>
            <a:r>
              <a:rPr lang="en-US" sz="18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3"/>
          <p:cNvSpPr txBox="1">
            <a:spLocks noGrp="1"/>
          </p:cNvSpPr>
          <p:nvPr>
            <p:ph type="title"/>
          </p:nvPr>
        </p:nvSpPr>
        <p:spPr>
          <a:xfrm>
            <a:off x="1164413" y="138002"/>
            <a:ext cx="6467873" cy="582066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rmAutofit/>
          </a:bodyPr>
          <a:lstStyle/>
          <a:p>
            <a:pPr algn="ctr"/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Saran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Pencegahan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Insiden</a:t>
            </a:r>
            <a:r>
              <a:rPr lang="en-US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Masa </a:t>
            </a:r>
            <a:r>
              <a:rPr lang="en-US" sz="18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Depan</a:t>
            </a:r>
            <a:endParaRPr dirty="0"/>
          </a:p>
        </p:txBody>
      </p:sp>
      <p:sp>
        <p:nvSpPr>
          <p:cNvPr id="3" name="Google Shape;166;p23">
            <a:extLst>
              <a:ext uri="{FF2B5EF4-FFF2-40B4-BE49-F238E27FC236}">
                <a16:creationId xmlns:a16="http://schemas.microsoft.com/office/drawing/2014/main" id="{31B67BCD-8548-6F4A-B0E0-684FAF734F55}"/>
              </a:ext>
            </a:extLst>
          </p:cNvPr>
          <p:cNvSpPr txBox="1">
            <a:spLocks/>
          </p:cNvSpPr>
          <p:nvPr/>
        </p:nvSpPr>
        <p:spPr>
          <a:xfrm>
            <a:off x="240877" y="930055"/>
            <a:ext cx="3124240" cy="3864333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DM Sans ExtraBold"/>
              <a:buNone/>
              <a:defRPr sz="3500" b="0" i="0" u="none" strike="noStrike" cap="none">
                <a:solidFill>
                  <a:schemeClr val="lt1"/>
                </a:solidFill>
                <a:latin typeface="DM Sans ExtraBold"/>
                <a:ea typeface="DM Sans ExtraBold"/>
                <a:cs typeface="DM Sans ExtraBold"/>
                <a:sym typeface="DM Sans ExtraBold"/>
              </a:defRPr>
            </a:lvl9pPr>
          </a:lstStyle>
          <a:p>
            <a:pPr marL="0" marR="0">
              <a:spcBef>
                <a:spcPts val="0"/>
              </a:spcBef>
            </a:pP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A. </a:t>
            </a: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Penguatan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Arsitektur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Keamanan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2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Hardening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</a:t>
            </a:r>
            <a:endParaRPr lang="en-US" sz="12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Implementasi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Zero Trust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Menerapkan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model 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Zero Trust Architecture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 mana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tidak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pengguna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(internal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maupun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eksternal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yang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dipercaya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secara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default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Akses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harus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diverifikasi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secara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ketat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berdasarkan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Need-to-Know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Least Privilege Principle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Segregasi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Jaringan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Mikro</a:t>
            </a:r>
            <a:r>
              <a:rPr lang="en-US" sz="12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Membagi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jaringan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terutama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di </a:t>
            </a:r>
            <a:r>
              <a:rPr lang="en-US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menjadi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segmen-segmen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kecil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2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microsegmentation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menggunakan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Security Groups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VPC/</a:t>
            </a:r>
            <a:r>
              <a:rPr lang="en-US" sz="1200" i="1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VNet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sehingga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jika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satu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segmen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terkompromi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penyebaran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200" i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lateral movement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penyerang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akan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sangat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terbatas</a:t>
            </a:r>
            <a:r>
              <a:rPr lang="en-US" sz="12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sz="1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1ECBD9-3922-4943-B4E2-994D695E4C34}"/>
              </a:ext>
            </a:extLst>
          </p:cNvPr>
          <p:cNvSpPr txBox="1"/>
          <p:nvPr/>
        </p:nvSpPr>
        <p:spPr>
          <a:xfrm>
            <a:off x="3706364" y="942992"/>
            <a:ext cx="2438787" cy="3480440"/>
          </a:xfrm>
          <a:prstGeom prst="rect">
            <a:avLst/>
          </a:prstGeom>
          <a:noFill/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B. Program </a:t>
            </a: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Pelatihan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Berkelanjutan</a:t>
            </a:r>
            <a:endParaRPr lang="en-US" sz="12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Pelatihan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Phishing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Realistis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Mengadakan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simulasi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phishing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lebih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canggih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bertarget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spear phishing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secara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berkala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meningkatkan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kesadaran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pengguna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Pelatihan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Security-by-Design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Melatih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tim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DevOps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Engineering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tentang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praktik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pengkodean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aman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Secure Coding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)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mencegah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kerentanan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seperti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SQLi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sejak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awal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dalam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siklus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pengembangan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442521-7CA0-FF4D-B189-D2A5E7E888EA}"/>
              </a:ext>
            </a:extLst>
          </p:cNvPr>
          <p:cNvSpPr txBox="1"/>
          <p:nvPr/>
        </p:nvSpPr>
        <p:spPr>
          <a:xfrm>
            <a:off x="6486399" y="942992"/>
            <a:ext cx="2185893" cy="2926442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>
              <a:spcBef>
                <a:spcPts val="0"/>
              </a:spcBef>
            </a:pP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C. </a:t>
            </a: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Pengujian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Keamanan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Proaktif</a:t>
            </a:r>
            <a:endParaRPr lang="en-US" sz="1200" b="1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marR="0" lvl="0" indent="-342900">
              <a:spcBef>
                <a:spcPts val="0"/>
              </a:spcBef>
              <a:spcAft>
                <a:spcPts val="500"/>
              </a:spcAft>
              <a:buSzPts val="1000"/>
              <a:buFont typeface="Symbol" pitchFamily="2" charset="2"/>
              <a:buChar char=""/>
              <a:tabLst>
                <a:tab pos="457200" algn="l"/>
              </a:tabLst>
            </a:pP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Program </a:t>
            </a:r>
            <a:r>
              <a:rPr lang="en-US" sz="1200" b="1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Bug Bounty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: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Menerapkan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program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bug bounty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atau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Penetration Testing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berkala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oleh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pihak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ketiga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untuk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mengidentifikasi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celah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tidak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terdeteksi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oleh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scanner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otomatis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,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terutama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pada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aplikasi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yang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terintegrasi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antara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cloud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dan </a:t>
            </a:r>
            <a:r>
              <a:rPr lang="en-US" sz="1200" i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on-premise</a:t>
            </a:r>
            <a:r>
              <a:rPr lang="en-US" sz="1200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.</a:t>
            </a: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</a:pPr>
            <a:endParaRPr lang="en-US" sz="1200" dirty="0">
              <a:solidFill>
                <a:schemeClr val="bg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4"/>
          <p:cNvSpPr txBox="1">
            <a:spLocks noGrp="1"/>
          </p:cNvSpPr>
          <p:nvPr>
            <p:ph type="title"/>
          </p:nvPr>
        </p:nvSpPr>
        <p:spPr>
          <a:xfrm>
            <a:off x="700225" y="839800"/>
            <a:ext cx="7315800" cy="324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SEKIAN DAN TERIMA KASIH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504</TotalTime>
  <Words>2933</Words>
  <Application>Microsoft Macintosh PowerPoint</Application>
  <PresentationFormat>On-screen Show (16:9)</PresentationFormat>
  <Paragraphs>234</Paragraphs>
  <Slides>27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Times New Roman</vt:lpstr>
      <vt:lpstr>DM Sans</vt:lpstr>
      <vt:lpstr>DM Sans Black</vt:lpstr>
      <vt:lpstr>Courier New</vt:lpstr>
      <vt:lpstr>Symbol</vt:lpstr>
      <vt:lpstr>Arial</vt:lpstr>
      <vt:lpstr>DM Sans ExtraBold</vt:lpstr>
      <vt:lpstr>Simple Light</vt:lpstr>
      <vt:lpstr>ECIH Final Project: Strategic Cyber Incident Response in Hybrid Infrastructure  Sabtu 29 November 2025  </vt:lpstr>
      <vt:lpstr>STUDI KASUS DAN LATAR BELAKANG</vt:lpstr>
      <vt:lpstr>INFRASTRUKTUR HIBRIDA</vt:lpstr>
      <vt:lpstr>RESIKO KEAMANAN UTAMA YANG DIHADAPI</vt:lpstr>
      <vt:lpstr>ALASAN PENTINGNYA STRATEGI TANGGAP INSIDEN  (IR STRATEGY) </vt:lpstr>
      <vt:lpstr>Tujuan Proyek </vt:lpstr>
      <vt:lpstr>Course-Net</vt:lpstr>
      <vt:lpstr>Diagram Lifecycle Penanganan Insiden  Mengacu pada NIST Incident Response Lifecycle: Preparation Detection &amp; Analysis Containment Eradication Recovery Post-Incident Activity Diagram ini menggambarkan alur penanganan insiden dari tahap persiapan hingga kegiatan evaluasi. </vt:lpstr>
      <vt:lpstr>Matriks vektor ancaman dan analisis risiko    </vt:lpstr>
      <vt:lpstr>Jenis Insiden yang Disimulasikan: Strategic Cyber Incident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Refleksi Profesional dan Pembelajaran</vt:lpstr>
      <vt:lpstr>PowerPoint Presentation</vt:lpstr>
      <vt:lpstr>Evaluasi Kepatuhan dan Standar Industri </vt:lpstr>
      <vt:lpstr>PowerPoint Presentation</vt:lpstr>
      <vt:lpstr>REKOMENDASI STRATEGIS</vt:lpstr>
      <vt:lpstr>Peningkatan Otomatisasi: Sistem Alerting dan SOAR</vt:lpstr>
      <vt:lpstr>Pembentukan Security Operations Center (SOC) </vt:lpstr>
      <vt:lpstr>Saran untuk Pencegahan Insiden Masa Depan</vt:lpstr>
      <vt:lpstr>SEKIAN DAN TERIMA KASIH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ECIH Final Project: Strategic Cyber Incident Response in Hybrid Infrastructure </dc:title>
  <cp:lastModifiedBy>SOC Support ViBiCloud</cp:lastModifiedBy>
  <cp:revision>11</cp:revision>
  <dcterms:modified xsi:type="dcterms:W3CDTF">2025-11-28T18:15:58Z</dcterms:modified>
</cp:coreProperties>
</file>